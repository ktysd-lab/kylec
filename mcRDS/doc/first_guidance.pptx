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v" ContentType="video/x-ms-wm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256" r:id="rId2"/>
    <p:sldId id="368" r:id="rId3"/>
    <p:sldId id="369" r:id="rId4"/>
    <p:sldId id="370" r:id="rId5"/>
    <p:sldId id="371" r:id="rId6"/>
    <p:sldId id="372" r:id="rId7"/>
    <p:sldId id="380" r:id="rId8"/>
    <p:sldId id="373" r:id="rId9"/>
    <p:sldId id="374" r:id="rId10"/>
    <p:sldId id="383" r:id="rId11"/>
    <p:sldId id="375" r:id="rId12"/>
    <p:sldId id="376" r:id="rId13"/>
    <p:sldId id="377" r:id="rId14"/>
    <p:sldId id="382" r:id="rId15"/>
    <p:sldId id="381" r:id="rId16"/>
    <p:sldId id="379" r:id="rId17"/>
    <p:sldId id="378" r:id="rId18"/>
    <p:sldId id="349" r:id="rId19"/>
    <p:sldId id="353" r:id="rId20"/>
  </p:sldIdLst>
  <p:sldSz cx="9144000" cy="6858000" type="screen4x3"/>
  <p:notesSz cx="6797675" cy="99266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FFFFFF"/>
    <a:srgbClr val="0000FF"/>
    <a:srgbClr val="FF6699"/>
    <a:srgbClr val="FFE5EE"/>
    <a:srgbClr val="FFC9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淡色スタイル 2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淡色スタイル 2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5620"/>
    <p:restoredTop sz="83855" autoAdjust="0"/>
  </p:normalViewPr>
  <p:slideViewPr>
    <p:cSldViewPr>
      <p:cViewPr varScale="1">
        <p:scale>
          <a:sx n="129" d="100"/>
          <a:sy n="129" d="100"/>
        </p:scale>
        <p:origin x="69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D0077-7B4A-42F8-AEB3-EFDC9075E773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F0F604-0C63-4481-8ECF-94F3784B33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87622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981ABF-7F12-40E9-B292-56E91A1356AB}" type="datetimeFigureOut">
              <a:rPr kumimoji="1" lang="ja-JP" altLang="en-US" smtClean="0"/>
              <a:t>2026/6/16</a:t>
            </a:fld>
            <a:endParaRPr kumimoji="1" lang="ja-JP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1738E1-E009-4113-8D51-5ACB88619268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96145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1738E1-E009-4113-8D51-5ACB88619268}" type="slidenum">
              <a:rPr kumimoji="1" lang="ja-JP" altLang="en-US" smtClean="0"/>
              <a:t>1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32863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 userDrawn="1"/>
        </p:nvGrpSpPr>
        <p:grpSpPr bwMode="auto">
          <a:xfrm>
            <a:off x="0" y="2"/>
            <a:ext cx="9144001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0" y="0"/>
              <a:ext cx="1202" cy="4320"/>
            </a:xfrm>
            <a:prstGeom prst="rect">
              <a:avLst/>
            </a:prstGeom>
            <a:gradFill rotWithShape="0">
              <a:gsLst>
                <a:gs pos="0">
                  <a:srgbClr val="FFC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0" lang="ja-JP" altLang="ja-JP" sz="2400" dirty="0">
                <a:latin typeface="Times New Roman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 userDrawn="1"/>
          </p:nvSpPr>
          <p:spPr bwMode="hidden">
            <a:xfrm>
              <a:off x="368" y="1065"/>
              <a:ext cx="5392" cy="1596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0"/>
            <a:lstStyle/>
            <a:p>
              <a:endParaRPr kumimoji="0" lang="ja-JP" altLang="ja-JP" sz="2400" dirty="0">
                <a:latin typeface="Times New Roman" charset="0"/>
              </a:endParaRPr>
            </a:p>
          </p:txBody>
        </p:sp>
      </p:grpSp>
      <p:pic>
        <p:nvPicPr>
          <p:cNvPr id="18" name="Picture 21" descr="logomark1_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8563" y="22225"/>
            <a:ext cx="219075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Box 22"/>
          <p:cNvSpPr txBox="1">
            <a:spLocks noChangeArrowheads="1"/>
          </p:cNvSpPr>
          <p:nvPr/>
        </p:nvSpPr>
        <p:spPr bwMode="auto">
          <a:xfrm>
            <a:off x="6281042" y="88900"/>
            <a:ext cx="26114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r>
              <a:rPr lang="en-US" altLang="ja-JP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Narrow" pitchFamily="34" charset="0"/>
              </a:rPr>
              <a:t>UTSUNOMIYA UNIVERSITY</a:t>
            </a:r>
          </a:p>
        </p:txBody>
      </p:sp>
      <p:sp>
        <p:nvSpPr>
          <p:cNvPr id="20" name="Rectangle 1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kumimoji="1" lang="ja-JP" altLang="en-US" dirty="0"/>
          </a:p>
        </p:txBody>
      </p:sp>
      <p:sp>
        <p:nvSpPr>
          <p:cNvPr id="21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zh-CN" altLang="en-US"/>
              <a:t>日本機械学会</a:t>
            </a:r>
            <a:r>
              <a:rPr kumimoji="1" lang="en-US" altLang="zh-CN"/>
              <a:t>2014 </a:t>
            </a:r>
            <a:r>
              <a:rPr kumimoji="1" lang="zh-CN" altLang="en-US"/>
              <a:t>年次大会 </a:t>
            </a:r>
            <a:r>
              <a:rPr kumimoji="1" lang="en-US" altLang="zh-CN"/>
              <a:t>[2014.9.7–10]</a:t>
            </a:r>
            <a:endParaRPr kumimoji="1" lang="ja-JP" altLang="en-US" dirty="0"/>
          </a:p>
        </p:txBody>
      </p:sp>
      <p:sp>
        <p:nvSpPr>
          <p:cNvPr id="22" name="Rectangle 1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543800" y="6400800"/>
            <a:ext cx="1143000" cy="381000"/>
          </a:xfrm>
        </p:spPr>
        <p:txBody>
          <a:bodyPr/>
          <a:lstStyle>
            <a:lvl1pPr>
              <a:defRPr/>
            </a:lvl1pPr>
          </a:lstStyle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  <p:sp>
        <p:nvSpPr>
          <p:cNvPr id="29" name="テキスト プレースホルダー 28"/>
          <p:cNvSpPr>
            <a:spLocks noGrp="1"/>
          </p:cNvSpPr>
          <p:nvPr>
            <p:ph type="body" sz="quarter" idx="13"/>
          </p:nvPr>
        </p:nvSpPr>
        <p:spPr>
          <a:xfrm>
            <a:off x="1412676" y="4656412"/>
            <a:ext cx="7515424" cy="1652908"/>
          </a:xfrm>
        </p:spPr>
        <p:txBody>
          <a:bodyPr lIns="180000"/>
          <a:lstStyle>
            <a:lvl1pPr marL="0" indent="0">
              <a:buNone/>
              <a:defRPr sz="2800"/>
            </a:lvl1pPr>
          </a:lstStyle>
          <a:p>
            <a:pPr lvl="0"/>
            <a:endParaRPr kumimoji="1" lang="ja-JP" altLang="en-US" dirty="0"/>
          </a:p>
        </p:txBody>
      </p:sp>
      <p:sp>
        <p:nvSpPr>
          <p:cNvPr id="38" name="テキスト プレースホルダー 28"/>
          <p:cNvSpPr>
            <a:spLocks noGrp="1"/>
          </p:cNvSpPr>
          <p:nvPr>
            <p:ph type="body" sz="quarter" idx="14"/>
          </p:nvPr>
        </p:nvSpPr>
        <p:spPr>
          <a:xfrm>
            <a:off x="395536" y="548680"/>
            <a:ext cx="8568952" cy="758130"/>
          </a:xfrm>
        </p:spPr>
        <p:txBody>
          <a:bodyPr lIns="180000" anchor="b"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endParaRPr kumimoji="1" lang="ja-JP" altLang="en-US" dirty="0"/>
          </a:p>
        </p:txBody>
      </p:sp>
      <p:sp>
        <p:nvSpPr>
          <p:cNvPr id="40" name="Rectangle 12"/>
          <p:cNvSpPr>
            <a:spLocks noChangeArrowheads="1"/>
          </p:cNvSpPr>
          <p:nvPr userDrawn="1"/>
        </p:nvSpPr>
        <p:spPr bwMode="auto">
          <a:xfrm>
            <a:off x="431924" y="1666850"/>
            <a:ext cx="357064" cy="248223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kumimoji="0" lang="ja-JP" altLang="ja-JP" sz="2400" dirty="0">
              <a:latin typeface="Times New Roman" charset="0"/>
            </a:endParaRPr>
          </a:p>
        </p:txBody>
      </p:sp>
      <p:sp>
        <p:nvSpPr>
          <p:cNvPr id="1742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610456" y="1666850"/>
            <a:ext cx="8317644" cy="2482230"/>
          </a:xfr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lIns="180000"/>
          <a:lstStyle>
            <a:lvl1pPr>
              <a:lnSpc>
                <a:spcPct val="10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012491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1"/>
            <a:ext cx="9144001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rgbClr val="FFC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0" lang="ja-JP" altLang="ja-JP" sz="2400" dirty="0">
                <a:latin typeface="Times New Roman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0"/>
            <a:lstStyle/>
            <a:p>
              <a:endParaRPr kumimoji="0" lang="ja-JP" altLang="ja-JP" sz="2400" dirty="0">
                <a:latin typeface="Times New Roman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361" y="671"/>
              <a:ext cx="1445" cy="1990"/>
              <a:chOff x="361" y="671"/>
              <a:chExt cx="1445" cy="1990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ja-JP" altLang="ja-JP" sz="2400" dirty="0">
                  <a:latin typeface="Times New Roman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kumimoji="0" lang="ja-JP" altLang="ja-JP" sz="2400" dirty="0">
                  <a:latin typeface="Times New Roman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1"/>
                <a:ext cx="369" cy="40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kumimoji="0" lang="ja-JP" altLang="ja-JP" sz="2400" dirty="0">
                  <a:latin typeface="Times New Roman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ja-JP" altLang="ja-JP" sz="2400" dirty="0">
                  <a:latin typeface="Times New Roman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ja-JP" altLang="ja-JP" sz="2400" dirty="0">
                  <a:latin typeface="Times New Roman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kumimoji="0" lang="ja-JP" altLang="ja-JP" sz="2400" dirty="0">
                  <a:latin typeface="Times New Roman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ja-JP" altLang="ja-JP" sz="2400" dirty="0">
                  <a:latin typeface="Times New Roman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kumimoji="0" lang="ja-JP" altLang="ja-JP" sz="2400" dirty="0">
                  <a:latin typeface="Times New Roman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ja-JP" altLang="ja-JP" sz="2400" dirty="0">
                  <a:latin typeface="Times New Roman" charset="0"/>
                </a:endParaRPr>
              </a:p>
            </p:txBody>
          </p:sp>
        </p:grpSp>
      </p:grpSp>
      <p:pic>
        <p:nvPicPr>
          <p:cNvPr id="18" name="Picture 21" descr="logomark1_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8563" y="22225"/>
            <a:ext cx="219075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Box 22"/>
          <p:cNvSpPr txBox="1">
            <a:spLocks noChangeArrowheads="1"/>
          </p:cNvSpPr>
          <p:nvPr/>
        </p:nvSpPr>
        <p:spPr bwMode="auto">
          <a:xfrm>
            <a:off x="6281042" y="88900"/>
            <a:ext cx="26114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r>
              <a:rPr lang="en-US" altLang="ja-JP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Narrow" pitchFamily="34" charset="0"/>
              </a:rPr>
              <a:t>UTSUNOMIYA UNIVERSITY</a:t>
            </a:r>
          </a:p>
        </p:txBody>
      </p:sp>
      <p:sp>
        <p:nvSpPr>
          <p:cNvPr id="1742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lnSpc>
                <a:spcPct val="125000"/>
              </a:lnSpc>
              <a:defRPr sz="5000">
                <a:solidFill>
                  <a:schemeClr val="bg1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20" name="Rectangle 1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kumimoji="1" lang="ja-JP" altLang="en-US" dirty="0"/>
          </a:p>
        </p:txBody>
      </p:sp>
      <p:sp>
        <p:nvSpPr>
          <p:cNvPr id="21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zh-CN" altLang="en-US"/>
              <a:t>日本機械学会</a:t>
            </a:r>
            <a:r>
              <a:rPr kumimoji="1" lang="en-US" altLang="zh-CN"/>
              <a:t>2014 </a:t>
            </a:r>
            <a:r>
              <a:rPr kumimoji="1" lang="zh-CN" altLang="en-US"/>
              <a:t>年次大会 </a:t>
            </a:r>
            <a:r>
              <a:rPr kumimoji="1" lang="en-US" altLang="zh-CN"/>
              <a:t>[2014.9.7–10]</a:t>
            </a:r>
            <a:endParaRPr kumimoji="1" lang="ja-JP" altLang="en-US" dirty="0"/>
          </a:p>
        </p:txBody>
      </p:sp>
      <p:sp>
        <p:nvSpPr>
          <p:cNvPr id="22" name="Rectangle 1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543800" y="6400800"/>
            <a:ext cx="1143000" cy="381000"/>
          </a:xfrm>
        </p:spPr>
        <p:txBody>
          <a:bodyPr/>
          <a:lstStyle>
            <a:lvl1pPr>
              <a:defRPr/>
            </a:lvl1pPr>
          </a:lstStyle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  <p:sp>
        <p:nvSpPr>
          <p:cNvPr id="25" name="Rectangle 12"/>
          <p:cNvSpPr>
            <a:spLocks noChangeArrowheads="1"/>
          </p:cNvSpPr>
          <p:nvPr userDrawn="1"/>
        </p:nvSpPr>
        <p:spPr bwMode="auto">
          <a:xfrm>
            <a:off x="568325" y="1690688"/>
            <a:ext cx="573088" cy="63341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/>
          <a:lstStyle/>
          <a:p>
            <a:endParaRPr kumimoji="0" lang="ja-JP" altLang="ja-JP" sz="2400" dirty="0">
              <a:latin typeface="Times New Roman" charset="0"/>
            </a:endParaRPr>
          </a:p>
        </p:txBody>
      </p:sp>
      <p:sp>
        <p:nvSpPr>
          <p:cNvPr id="27" name="Rectangle 12"/>
          <p:cNvSpPr>
            <a:spLocks noChangeArrowheads="1"/>
          </p:cNvSpPr>
          <p:nvPr userDrawn="1"/>
        </p:nvSpPr>
        <p:spPr bwMode="auto">
          <a:xfrm>
            <a:off x="568325" y="1076325"/>
            <a:ext cx="573087" cy="62388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0" lang="ja-JP" altLang="ja-JP" sz="2400" dirty="0">
              <a:latin typeface="Times New Roman" charset="0"/>
            </a:endParaRPr>
          </a:p>
        </p:txBody>
      </p:sp>
      <p:sp>
        <p:nvSpPr>
          <p:cNvPr id="28" name="Rectangle 12"/>
          <p:cNvSpPr>
            <a:spLocks noChangeArrowheads="1"/>
          </p:cNvSpPr>
          <p:nvPr userDrawn="1"/>
        </p:nvSpPr>
        <p:spPr bwMode="auto">
          <a:xfrm>
            <a:off x="0" y="1700213"/>
            <a:ext cx="568325" cy="62388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0" lang="ja-JP" altLang="ja-JP" sz="2400" dirty="0">
              <a:latin typeface="Times New Roman" charset="0"/>
            </a:endParaRPr>
          </a:p>
        </p:txBody>
      </p:sp>
      <p:sp>
        <p:nvSpPr>
          <p:cNvPr id="26" name="正方形/長方形 25"/>
          <p:cNvSpPr/>
          <p:nvPr userDrawn="1"/>
        </p:nvSpPr>
        <p:spPr>
          <a:xfrm>
            <a:off x="2880879" y="1003308"/>
            <a:ext cx="37224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3600" dirty="0">
                <a:solidFill>
                  <a:schemeClr val="accent6"/>
                </a:solidFill>
              </a:rPr>
              <a:t>動的システム解析</a:t>
            </a:r>
          </a:p>
        </p:txBody>
      </p:sp>
      <p:sp>
        <p:nvSpPr>
          <p:cNvPr id="2" name="正方形/長方形 1"/>
          <p:cNvSpPr/>
          <p:nvPr userDrawn="1"/>
        </p:nvSpPr>
        <p:spPr>
          <a:xfrm>
            <a:off x="3010644" y="4239732"/>
            <a:ext cx="6026993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3400" dirty="0">
                <a:latin typeface="ＭＳ ゴシック" pitchFamily="49" charset="-128"/>
                <a:ea typeface="ＭＳ ゴシック" pitchFamily="49" charset="-128"/>
              </a:rPr>
              <a:t>宇都宮大学大学院</a:t>
            </a:r>
            <a:endParaRPr lang="en-US" altLang="ja-JP" sz="3400" dirty="0">
              <a:latin typeface="ＭＳ ゴシック" pitchFamily="49" charset="-128"/>
              <a:ea typeface="ＭＳ ゴシック" pitchFamily="49" charset="-128"/>
            </a:endParaRPr>
          </a:p>
          <a:p>
            <a:r>
              <a:rPr lang="ja-JP" altLang="en-US" sz="3400" dirty="0">
                <a:latin typeface="ＭＳ ゴシック" pitchFamily="49" charset="-128"/>
                <a:ea typeface="ＭＳ ゴシック" pitchFamily="49" charset="-128"/>
              </a:rPr>
              <a:t>機械知能工学プログラム</a:t>
            </a:r>
            <a:endParaRPr lang="en-US" altLang="ja-JP" sz="3400" dirty="0">
              <a:latin typeface="ＭＳ ゴシック" pitchFamily="49" charset="-128"/>
              <a:ea typeface="ＭＳ ゴシック" pitchFamily="49" charset="-128"/>
            </a:endParaRPr>
          </a:p>
          <a:p>
            <a:r>
              <a:rPr lang="ja-JP" altLang="en-US" sz="3400" dirty="0">
                <a:latin typeface="ＭＳ ゴシック" pitchFamily="49" charset="-128"/>
                <a:ea typeface="ＭＳ ゴシック" pitchFamily="49" charset="-128"/>
              </a:rPr>
              <a:t>吉田 勝俊</a:t>
            </a:r>
          </a:p>
        </p:txBody>
      </p:sp>
    </p:spTree>
    <p:extLst>
      <p:ext uri="{BB962C8B-B14F-4D97-AF65-F5344CB8AC3E}">
        <p14:creationId xmlns:p14="http://schemas.microsoft.com/office/powerpoint/2010/main" val="354199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85800"/>
          </a:xfrm>
        </p:spPr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127848"/>
          </a:xfrm>
        </p:spPr>
        <p:txBody>
          <a:bodyPr/>
          <a:lstStyle>
            <a:lvl1pPr>
              <a:spcBef>
                <a:spcPts val="600"/>
              </a:spcBef>
              <a:buClr>
                <a:schemeClr val="accent6"/>
              </a:buClr>
              <a:defRPr/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5pPr>
              <a:buClr>
                <a:schemeClr val="accent6"/>
              </a:buClr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kumimoji="1" lang="zh-CN" altLang="en-US"/>
              <a:t>日本機械学会</a:t>
            </a:r>
            <a:r>
              <a:rPr kumimoji="1" lang="en-US" altLang="zh-CN"/>
              <a:t>2014 </a:t>
            </a:r>
            <a:r>
              <a:rPr kumimoji="1" lang="zh-CN" altLang="en-US"/>
              <a:t>年次大会 </a:t>
            </a:r>
            <a:r>
              <a:rPr kumimoji="1" lang="en-US" altLang="zh-CN"/>
              <a:t>[2014.9.7–10]</a:t>
            </a:r>
            <a:endParaRPr kumimoji="1" lang="ja-JP" altLang="en-US" dirty="0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kumimoji="1" lang="ja-JP" altLang="en-US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 sz="1600"/>
            </a:lvl1pPr>
          </a:lstStyle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86929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2150914"/>
            <a:ext cx="7772400" cy="1362075"/>
          </a:xfrm>
        </p:spPr>
        <p:txBody>
          <a:bodyPr anchor="t"/>
          <a:lstStyle>
            <a:lvl1pPr algn="l">
              <a:defRPr sz="5000" b="1" cap="none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3512989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kumimoji="1" lang="zh-CN" altLang="en-US"/>
              <a:t>日本機械学会</a:t>
            </a:r>
            <a:r>
              <a:rPr kumimoji="1" lang="en-US" altLang="zh-CN"/>
              <a:t>2014 </a:t>
            </a:r>
            <a:r>
              <a:rPr kumimoji="1" lang="zh-CN" altLang="en-US"/>
              <a:t>年次大会 </a:t>
            </a:r>
            <a:r>
              <a:rPr kumimoji="1" lang="en-US" altLang="zh-CN"/>
              <a:t>[2014.9.7–10]</a:t>
            </a:r>
            <a:endParaRPr kumimoji="1" lang="ja-JP" altLang="en-US" dirty="0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kumimoji="1" lang="ja-JP" altLang="en-US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8426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kumimoji="1" lang="zh-CN" altLang="en-US"/>
              <a:t>日本機械学会</a:t>
            </a:r>
            <a:r>
              <a:rPr kumimoji="1" lang="en-US" altLang="zh-CN"/>
              <a:t>2014 </a:t>
            </a:r>
            <a:r>
              <a:rPr kumimoji="1" lang="zh-CN" altLang="en-US"/>
              <a:t>年次大会 </a:t>
            </a:r>
            <a:r>
              <a:rPr kumimoji="1" lang="en-US" altLang="zh-CN"/>
              <a:t>[2014.9.7–10]</a:t>
            </a:r>
            <a:endParaRPr kumimoji="1" lang="ja-JP" altLang="en-US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kumimoji="1" lang="ja-JP" altLang="en-US" dirty="0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2036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1828800"/>
            <a:ext cx="4040188" cy="42973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8200" y="1143000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1828800"/>
            <a:ext cx="4041775" cy="42973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kumimoji="1" lang="zh-CN" altLang="en-US"/>
              <a:t>日本機械学会</a:t>
            </a:r>
            <a:r>
              <a:rPr kumimoji="1" lang="en-US" altLang="zh-CN"/>
              <a:t>2014 </a:t>
            </a:r>
            <a:r>
              <a:rPr kumimoji="1" lang="zh-CN" altLang="en-US"/>
              <a:t>年次大会 </a:t>
            </a:r>
            <a:r>
              <a:rPr kumimoji="1" lang="en-US" altLang="zh-CN"/>
              <a:t>[2014.9.7–10]</a:t>
            </a:r>
            <a:endParaRPr kumimoji="1" lang="ja-JP" altLang="en-US" dirty="0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kumimoji="1" lang="ja-JP" altLang="en-US" dirty="0"/>
          </a:p>
        </p:txBody>
      </p:sp>
      <p:sp>
        <p:nvSpPr>
          <p:cNvPr id="9" name="Rectangle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82469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kumimoji="1" lang="zh-CN" altLang="en-US"/>
              <a:t>日本機械学会</a:t>
            </a:r>
            <a:r>
              <a:rPr kumimoji="1" lang="en-US" altLang="zh-CN"/>
              <a:t>2014 </a:t>
            </a:r>
            <a:r>
              <a:rPr kumimoji="1" lang="zh-CN" altLang="en-US"/>
              <a:t>年次大会 </a:t>
            </a:r>
            <a:r>
              <a:rPr kumimoji="1" lang="en-US" altLang="zh-CN"/>
              <a:t>[2014.9.7–10]</a:t>
            </a:r>
            <a:endParaRPr kumimoji="1" lang="ja-JP" altLang="en-US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kumimoji="1" lang="ja-JP" alt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8698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kumimoji="1" lang="zh-CN" altLang="en-US"/>
              <a:t>日本機械学会</a:t>
            </a:r>
            <a:r>
              <a:rPr kumimoji="1" lang="en-US" altLang="zh-CN"/>
              <a:t>2014 </a:t>
            </a:r>
            <a:r>
              <a:rPr kumimoji="1" lang="zh-CN" altLang="en-US"/>
              <a:t>年次大会 </a:t>
            </a:r>
            <a:r>
              <a:rPr kumimoji="1" lang="en-US" altLang="zh-CN"/>
              <a:t>[2014.9.7–10]</a:t>
            </a:r>
            <a:endParaRPr kumimoji="1" lang="ja-JP" altLang="en-US" dirty="0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kumimoji="1" lang="ja-JP" alt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90762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kumimoji="1" lang="zh-CN" altLang="en-US"/>
              <a:t>日本機械学会</a:t>
            </a:r>
            <a:r>
              <a:rPr kumimoji="1" lang="en-US" altLang="zh-CN"/>
              <a:t>2014 </a:t>
            </a:r>
            <a:r>
              <a:rPr kumimoji="1" lang="zh-CN" altLang="en-US"/>
              <a:t>年次大会 </a:t>
            </a:r>
            <a:r>
              <a:rPr kumimoji="1" lang="en-US" altLang="zh-CN"/>
              <a:t>[2014.9.7–10]</a:t>
            </a:r>
            <a:endParaRPr kumimoji="1" lang="ja-JP" altLang="en-US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kumimoji="1" lang="ja-JP" altLang="en-US" dirty="0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64191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ja-JP" altLang="en-US" noProof="0" dirty="0"/>
              <a:t>アイコンをクリックして図を追加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kumimoji="1" lang="zh-CN" altLang="en-US"/>
              <a:t>日本機械学会</a:t>
            </a:r>
            <a:r>
              <a:rPr kumimoji="1" lang="en-US" altLang="zh-CN"/>
              <a:t>2014 </a:t>
            </a:r>
            <a:r>
              <a:rPr kumimoji="1" lang="zh-CN" altLang="en-US"/>
              <a:t>年次大会 </a:t>
            </a:r>
            <a:r>
              <a:rPr kumimoji="1" lang="en-US" altLang="zh-CN"/>
              <a:t>[2014.9.7–10]</a:t>
            </a:r>
            <a:endParaRPr kumimoji="1" lang="ja-JP" altLang="en-US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kumimoji="1" lang="ja-JP" altLang="en-US" dirty="0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74572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kumimoji="1" lang="zh-CN" altLang="en-US"/>
              <a:t>日本機械学会</a:t>
            </a:r>
            <a:r>
              <a:rPr kumimoji="1" lang="en-US" altLang="zh-CN"/>
              <a:t>2014 </a:t>
            </a:r>
            <a:r>
              <a:rPr kumimoji="1" lang="zh-CN" altLang="en-US"/>
              <a:t>年次大会 </a:t>
            </a:r>
            <a:r>
              <a:rPr kumimoji="1" lang="en-US" altLang="zh-CN"/>
              <a:t>[2014.9.7–10]</a:t>
            </a:r>
            <a:endParaRPr kumimoji="1" lang="ja-JP" altLang="en-US" dirty="0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kumimoji="1" lang="ja-JP" altLang="en-US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97957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867400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867400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kumimoji="1" lang="zh-CN" altLang="en-US"/>
              <a:t>日本機械学会</a:t>
            </a:r>
            <a:r>
              <a:rPr kumimoji="1" lang="en-US" altLang="zh-CN"/>
              <a:t>2014 </a:t>
            </a:r>
            <a:r>
              <a:rPr kumimoji="1" lang="zh-CN" altLang="en-US"/>
              <a:t>年次大会 </a:t>
            </a:r>
            <a:r>
              <a:rPr kumimoji="1" lang="en-US" altLang="zh-CN"/>
              <a:t>[2014.9.7–10]</a:t>
            </a:r>
            <a:endParaRPr kumimoji="1" lang="ja-JP" altLang="en-US" dirty="0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kumimoji="1" lang="ja-JP" altLang="en-US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536202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タイトル、2 つのコンテンツ (横)、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858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quarter" idx="1"/>
          </p:nvPr>
        </p:nvSpPr>
        <p:spPr>
          <a:xfrm>
            <a:off x="457200" y="1333500"/>
            <a:ext cx="4038600" cy="24765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quarter" idx="2"/>
          </p:nvPr>
        </p:nvSpPr>
        <p:spPr>
          <a:xfrm>
            <a:off x="4648200" y="1333500"/>
            <a:ext cx="4038600" cy="24765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half" idx="3"/>
          </p:nvPr>
        </p:nvSpPr>
        <p:spPr>
          <a:xfrm>
            <a:off x="457200" y="3886200"/>
            <a:ext cx="8229600" cy="24384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kumimoji="1" lang="zh-CN" altLang="en-US"/>
              <a:t>日本機械学会</a:t>
            </a:r>
            <a:r>
              <a:rPr kumimoji="1" lang="en-US" altLang="zh-CN"/>
              <a:t>2014 </a:t>
            </a:r>
            <a:r>
              <a:rPr kumimoji="1" lang="zh-CN" altLang="en-US"/>
              <a:t>年次大会 </a:t>
            </a:r>
            <a:r>
              <a:rPr kumimoji="1" lang="en-US" altLang="zh-CN"/>
              <a:t>[2014.9.7–10]</a:t>
            </a:r>
            <a:endParaRPr kumimoji="1" lang="ja-JP" altLang="en-US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kumimoji="1" lang="ja-JP" altLang="en-US" dirty="0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526496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、コンテンツ、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858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8229600" cy="2514600"/>
          </a:xfrm>
        </p:spPr>
        <p:txBody>
          <a:bodyPr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kumimoji="1" lang="zh-CN" altLang="en-US"/>
              <a:t>日本機械学会</a:t>
            </a:r>
            <a:r>
              <a:rPr kumimoji="1" lang="en-US" altLang="zh-CN"/>
              <a:t>2014 </a:t>
            </a:r>
            <a:r>
              <a:rPr kumimoji="1" lang="zh-CN" altLang="en-US"/>
              <a:t>年次大会 </a:t>
            </a:r>
            <a:r>
              <a:rPr kumimoji="1" lang="en-US" altLang="zh-CN"/>
              <a:t>[2014.9.7–10]</a:t>
            </a:r>
            <a:endParaRPr kumimoji="1" lang="ja-JP" altLang="en-US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kumimoji="1" lang="ja-JP" altLang="en-US" dirty="0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  <p:sp>
        <p:nvSpPr>
          <p:cNvPr id="8" name="コンテンツ プレースホルダ 2"/>
          <p:cNvSpPr>
            <a:spLocks noGrp="1"/>
          </p:cNvSpPr>
          <p:nvPr>
            <p:ph sz="half" idx="13"/>
          </p:nvPr>
        </p:nvSpPr>
        <p:spPr>
          <a:xfrm>
            <a:off x="459380" y="3789040"/>
            <a:ext cx="8229600" cy="2514600"/>
          </a:xfrm>
        </p:spPr>
        <p:txBody>
          <a:bodyPr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5161437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、コンテンツ ×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858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164096"/>
            <a:ext cx="8229600" cy="1728192"/>
          </a:xfrm>
        </p:spPr>
        <p:txBody>
          <a:bodyPr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kumimoji="1" lang="zh-CN" altLang="en-US"/>
              <a:t>日本機械学会</a:t>
            </a:r>
            <a:r>
              <a:rPr kumimoji="1" lang="en-US" altLang="zh-CN"/>
              <a:t>2014 </a:t>
            </a:r>
            <a:r>
              <a:rPr kumimoji="1" lang="zh-CN" altLang="en-US"/>
              <a:t>年次大会 </a:t>
            </a:r>
            <a:r>
              <a:rPr kumimoji="1" lang="en-US" altLang="zh-CN"/>
              <a:t>[2014.9.7–10]</a:t>
            </a:r>
            <a:endParaRPr kumimoji="1" lang="ja-JP" altLang="en-US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kumimoji="1" lang="ja-JP" altLang="en-US" dirty="0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  <p:sp>
        <p:nvSpPr>
          <p:cNvPr id="8" name="コンテンツ プレースホルダ 2"/>
          <p:cNvSpPr>
            <a:spLocks noGrp="1"/>
          </p:cNvSpPr>
          <p:nvPr>
            <p:ph sz="half" idx="13"/>
          </p:nvPr>
        </p:nvSpPr>
        <p:spPr>
          <a:xfrm>
            <a:off x="459380" y="2908616"/>
            <a:ext cx="8229600" cy="1728192"/>
          </a:xfrm>
        </p:spPr>
        <p:txBody>
          <a:bodyPr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9" name="コンテンツ プレースホルダ 2"/>
          <p:cNvSpPr>
            <a:spLocks noGrp="1"/>
          </p:cNvSpPr>
          <p:nvPr>
            <p:ph sz="half" idx="14"/>
          </p:nvPr>
        </p:nvSpPr>
        <p:spPr>
          <a:xfrm>
            <a:off x="455020" y="4653136"/>
            <a:ext cx="8229600" cy="1728192"/>
          </a:xfrm>
        </p:spPr>
        <p:txBody>
          <a:bodyPr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154514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7" name="Group 4"/>
          <p:cNvGrpSpPr>
            <a:grpSpLocks/>
          </p:cNvGrpSpPr>
          <p:nvPr/>
        </p:nvGrpSpPr>
        <p:grpSpPr bwMode="auto">
          <a:xfrm>
            <a:off x="0" y="0"/>
            <a:ext cx="9144000" cy="533400"/>
            <a:chOff x="0" y="0"/>
            <a:chExt cx="5760" cy="336"/>
          </a:xfrm>
        </p:grpSpPr>
        <p:sp>
          <p:nvSpPr>
            <p:cNvPr id="1034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rgbClr val="FFC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0" lang="ja-JP" altLang="ja-JP" sz="2400" dirty="0">
                <a:latin typeface="Times New Roman" charset="0"/>
              </a:endParaRPr>
            </a:p>
          </p:txBody>
        </p:sp>
        <p:sp>
          <p:nvSpPr>
            <p:cNvPr id="1035" name="Rectangle 6"/>
            <p:cNvSpPr>
              <a:spLocks noChangeArrowheads="1"/>
            </p:cNvSpPr>
            <p:nvPr/>
          </p:nvSpPr>
          <p:spPr bwMode="auto">
            <a:xfrm>
              <a:off x="283" y="85"/>
              <a:ext cx="5477" cy="173"/>
            </a:xfrm>
            <a:prstGeom prst="rect">
              <a:avLst/>
            </a:prstGeom>
            <a:gradFill rotWithShape="0">
              <a:gsLst>
                <a:gs pos="0">
                  <a:srgbClr val="FFC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ja-JP" altLang="ja-JP" sz="2400" dirty="0">
                <a:latin typeface="Times New Roman" charset="0"/>
              </a:endParaRPr>
            </a:p>
          </p:txBody>
        </p:sp>
        <p:sp>
          <p:nvSpPr>
            <p:cNvPr id="1036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ja-JP" altLang="ja-JP" dirty="0">
                <a:solidFill>
                  <a:schemeClr val="hlink"/>
                </a:solidFill>
              </a:endParaRPr>
            </a:p>
          </p:txBody>
        </p:sp>
        <p:sp>
          <p:nvSpPr>
            <p:cNvPr id="1039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5" cy="8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ja-JP" altLang="ja-JP" dirty="0">
                <a:solidFill>
                  <a:schemeClr val="hlink"/>
                </a:solidFill>
              </a:endParaRPr>
            </a:p>
          </p:txBody>
        </p:sp>
        <p:sp>
          <p:nvSpPr>
            <p:cNvPr id="1040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ja-JP" altLang="ja-JP" sz="2400" dirty="0">
                <a:latin typeface="Times New Roman" charset="0"/>
              </a:endParaRPr>
            </a:p>
          </p:txBody>
        </p:sp>
      </p:grpSp>
      <p:sp>
        <p:nvSpPr>
          <p:cNvPr id="1028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667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9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4744"/>
            <a:ext cx="8229600" cy="5199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1640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627984" y="136525"/>
            <a:ext cx="1600200" cy="263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chemeClr val="bg2">
                    <a:lumMod val="50000"/>
                  </a:schemeClr>
                </a:solidFill>
                <a:ea typeface="ＭＳ Ｐゴシック" pitchFamily="50" charset="-128"/>
              </a:defRPr>
            </a:lvl1pPr>
          </a:lstStyle>
          <a:p>
            <a:endParaRPr kumimoji="1" lang="ja-JP" altLang="en-US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16416" y="6400800"/>
            <a:ext cx="643136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600">
                <a:solidFill>
                  <a:schemeClr val="accent6"/>
                </a:solidFill>
                <a:latin typeface="Arial Black" pitchFamily="34" charset="0"/>
                <a:ea typeface="ＭＳ Ｐゴシック" pitchFamily="50" charset="-128"/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pic>
        <p:nvPicPr>
          <p:cNvPr id="1032" name="Picture 18" descr="logomark1_M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8563" y="22225"/>
            <a:ext cx="219075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3" name="Text Box 19"/>
          <p:cNvSpPr txBox="1">
            <a:spLocks noChangeArrowheads="1"/>
          </p:cNvSpPr>
          <p:nvPr/>
        </p:nvSpPr>
        <p:spPr bwMode="auto">
          <a:xfrm>
            <a:off x="6281042" y="88900"/>
            <a:ext cx="26114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r>
              <a:rPr lang="en-US" altLang="ja-JP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Narrow" pitchFamily="34" charset="0"/>
              </a:rPr>
              <a:t>UTSUNOMIYA UNIVERSITY</a:t>
            </a:r>
          </a:p>
        </p:txBody>
      </p:sp>
      <p:sp>
        <p:nvSpPr>
          <p:cNvPr id="20" name="Rectangle 8"/>
          <p:cNvSpPr>
            <a:spLocks noChangeArrowheads="1"/>
          </p:cNvSpPr>
          <p:nvPr userDrawn="1"/>
        </p:nvSpPr>
        <p:spPr bwMode="auto">
          <a:xfrm>
            <a:off x="548031" y="134619"/>
            <a:ext cx="139700" cy="13811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kumimoji="0" lang="ja-JP" altLang="ja-JP" dirty="0">
              <a:solidFill>
                <a:schemeClr val="hlink"/>
              </a:solidFill>
            </a:endParaRPr>
          </a:p>
        </p:txBody>
      </p:sp>
      <p:sp>
        <p:nvSpPr>
          <p:cNvPr id="21" name="Rectangle 8"/>
          <p:cNvSpPr>
            <a:spLocks noChangeArrowheads="1"/>
          </p:cNvSpPr>
          <p:nvPr userDrawn="1"/>
        </p:nvSpPr>
        <p:spPr bwMode="auto">
          <a:xfrm>
            <a:off x="408500" y="272733"/>
            <a:ext cx="139188" cy="13684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kumimoji="0" lang="ja-JP" altLang="ja-JP" dirty="0">
              <a:solidFill>
                <a:schemeClr val="hlink"/>
              </a:solidFill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7731" y="134619"/>
            <a:ext cx="3884269" cy="274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chemeClr val="bg2">
                    <a:lumMod val="50000"/>
                  </a:schemeClr>
                </a:solidFill>
                <a:ea typeface="ＭＳ Ｐゴシック" pitchFamily="50" charset="-128"/>
              </a:defRPr>
            </a:lvl1pPr>
          </a:lstStyle>
          <a:p>
            <a:r>
              <a:rPr kumimoji="1" lang="zh-CN" altLang="en-US"/>
              <a:t>日本機械学会</a:t>
            </a:r>
            <a:r>
              <a:rPr kumimoji="1" lang="en-US" altLang="zh-CN"/>
              <a:t>2014 </a:t>
            </a:r>
            <a:r>
              <a:rPr kumimoji="1" lang="zh-CN" altLang="en-US"/>
              <a:t>年次大会 </a:t>
            </a:r>
            <a:r>
              <a:rPr kumimoji="1" lang="en-US" altLang="zh-CN"/>
              <a:t>[2014.9.7–10]</a:t>
            </a:r>
            <a:endParaRPr kumimoji="1" lang="ja-JP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5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accent5">
              <a:lumMod val="75000"/>
            </a:schemeClr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ts val="600"/>
        </a:spcBef>
        <a:spcAft>
          <a:spcPts val="300"/>
        </a:spcAft>
        <a:buClr>
          <a:schemeClr val="accent6"/>
        </a:buClr>
        <a:buSzPct val="75000"/>
        <a:buFont typeface="Wingding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ts val="300"/>
        </a:spcBef>
        <a:spcAft>
          <a:spcPts val="300"/>
        </a:spcAft>
        <a:buClr>
          <a:schemeClr val="accent2"/>
        </a:buClr>
        <a:buSzPct val="80000"/>
        <a:buFont typeface="Wingdings" pitchFamily="2" charset="2"/>
        <a:buChar char="¨"/>
        <a:defRPr kumimoji="1"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6"/>
        </a:buClr>
        <a:buSzPct val="65000"/>
        <a:buFont typeface="Wingdings" pitchFamily="2" charset="2"/>
        <a:buChar char="n"/>
        <a:defRPr kumimoji="1" sz="2400">
          <a:solidFill>
            <a:schemeClr val="tx1">
              <a:lumMod val="65000"/>
              <a:lumOff val="35000"/>
            </a:schemeClr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kumimoji="1" sz="2000">
          <a:solidFill>
            <a:schemeClr val="tx1">
              <a:lumMod val="65000"/>
              <a:lumOff val="35000"/>
            </a:schemeClr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6"/>
        </a:buClr>
        <a:buFont typeface="Wingdings" pitchFamily="2" charset="2"/>
        <a:buChar char="§"/>
        <a:defRPr kumimoji="1" sz="2000">
          <a:solidFill>
            <a:schemeClr val="tx1">
              <a:lumMod val="65000"/>
              <a:lumOff val="35000"/>
            </a:schemeClr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2.wmv"/><Relationship Id="rId1" Type="http://schemas.microsoft.com/office/2007/relationships/media" Target="../media/media2.wmv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3.wmv"/><Relationship Id="rId1" Type="http://schemas.microsoft.com/office/2007/relationships/media" Target="../media/media3.wmv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4.wmv"/><Relationship Id="rId1" Type="http://schemas.microsoft.com/office/2007/relationships/media" Target="../media/media4.wmv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tysd/python-startup/wiki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ja-JP" altLang="en-US" sz="6000" dirty="0"/>
              <a:t>ガイダンス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1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46120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2150914"/>
            <a:ext cx="7772400" cy="28622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dirty="0"/>
              <a:t>授業の背景（第１章）</a:t>
            </a:r>
            <a:br>
              <a:rPr kumimoji="1" lang="en-US" altLang="ja-JP" dirty="0"/>
            </a:br>
            <a:r>
              <a:rPr kumimoji="1" lang="ja-JP" altLang="en-US" dirty="0"/>
              <a:t>「状態推定とノイズの小話」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36042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観測</a:t>
            </a:r>
            <a:r>
              <a:rPr kumimoji="1" lang="ja-JP" altLang="en-US" dirty="0"/>
              <a:t>誤差のある制御系　</a:t>
            </a:r>
            <a:r>
              <a:rPr kumimoji="1" lang="en-US" altLang="ja-JP" dirty="0"/>
              <a:t>1/3</a:t>
            </a:r>
            <a:endParaRPr kumimoji="1" lang="ja-JP" altLang="en-US" dirty="0"/>
          </a:p>
        </p:txBody>
      </p:sp>
      <p:pic>
        <p:nvPicPr>
          <p:cNvPr id="7" name="コンテンツ プレースホルダー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84" y="1562472"/>
            <a:ext cx="8204780" cy="2514600"/>
          </a:xfrm>
        </p:spPr>
      </p:pic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3</a:t>
            </a:fld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コンテンツ プレースホルダー 7"/>
              <p:cNvSpPr>
                <a:spLocks noGrp="1"/>
              </p:cNvSpPr>
              <p:nvPr>
                <p:ph sz="half" idx="13"/>
              </p:nvPr>
            </p:nvSpPr>
            <p:spPr>
              <a:xfrm>
                <a:off x="459380" y="4437112"/>
                <a:ext cx="8229600" cy="1866528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ja-JP" altLang="en-US" dirty="0"/>
                  <a:t>状態量</a:t>
                </a:r>
                <a:r>
                  <a:rPr lang="en-US" altLang="ja-JP" dirty="0"/>
                  <a:t>	</a:t>
                </a:r>
                <a14:m>
                  <m:oMath xmlns:m="http://schemas.openxmlformats.org/officeDocument/2006/math">
                    <m:r>
                      <a:rPr lang="en-US" altLang="ja-JP" b="1" i="1" smtClean="0">
                        <a:latin typeface="Cambria Math"/>
                      </a:rPr>
                      <m:t>𝒙</m:t>
                    </m:r>
                    <m:r>
                      <a:rPr lang="en-US" altLang="ja-JP" b="0" i="1" smtClean="0">
                        <a:latin typeface="Cambria Math"/>
                      </a:rPr>
                      <m:t>=(</m:t>
                    </m:r>
                    <m:r>
                      <a:rPr lang="en-US" altLang="ja-JP" b="0" i="1" smtClean="0">
                        <a:latin typeface="Cambria Math"/>
                      </a:rPr>
                      <m:t>𝑥</m:t>
                    </m:r>
                    <m:r>
                      <a:rPr lang="en-US" altLang="ja-JP" b="0" i="1" smtClean="0">
                        <a:latin typeface="Cambria Math"/>
                      </a:rPr>
                      <m:t>,</m:t>
                    </m:r>
                    <m:acc>
                      <m:accPr>
                        <m:chr m:val="̇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b="0" i="1" smtClean="0">
                            <a:latin typeface="Cambria Math"/>
                          </a:rPr>
                          <m:t>𝑥</m:t>
                        </m:r>
                      </m:e>
                    </m:acc>
                    <m:r>
                      <a:rPr lang="en-US" altLang="ja-JP" b="0" i="1" smtClean="0">
                        <a:latin typeface="Cambria Math"/>
                      </a:rPr>
                      <m:t>)</m:t>
                    </m:r>
                  </m:oMath>
                </a14:m>
                <a:endParaRPr kumimoji="1" lang="en-US" altLang="ja-JP" dirty="0"/>
              </a:p>
              <a:p>
                <a:pPr>
                  <a:lnSpc>
                    <a:spcPct val="150000"/>
                  </a:lnSpc>
                </a:pPr>
                <a:r>
                  <a:rPr lang="ja-JP" altLang="en-US" dirty="0"/>
                  <a:t>観測量</a:t>
                </a:r>
                <a:r>
                  <a:rPr lang="en-US" altLang="ja-JP" dirty="0"/>
                  <a:t>	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/>
                      </a:rPr>
                      <m:t>𝑦</m:t>
                    </m:r>
                    <m:r>
                      <a:rPr lang="en-US" altLang="ja-JP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/>
                          </a:rPr>
                          <m:t>1,0</m:t>
                        </m:r>
                      </m:e>
                    </m:d>
                    <m:r>
                      <a:rPr lang="en-US" altLang="ja-JP" b="1" i="1" smtClean="0">
                        <a:latin typeface="Cambria Math"/>
                      </a:rPr>
                      <m:t>𝒙</m:t>
                    </m:r>
                    <m:r>
                      <a:rPr lang="en-US" altLang="ja-JP" b="0" i="1" smtClean="0">
                        <a:latin typeface="Cambria Math"/>
                      </a:rPr>
                      <m:t>=</m:t>
                    </m:r>
                    <m:r>
                      <a:rPr lang="en-US" altLang="ja-JP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kumimoji="1" lang="en-US" altLang="ja-JP" dirty="0"/>
                  <a:t>		※</a:t>
                </a:r>
                <a:r>
                  <a:rPr kumimoji="1" lang="ja-JP" altLang="en-US" dirty="0"/>
                  <a:t>変位のみ</a:t>
                </a:r>
              </a:p>
            </p:txBody>
          </p:sp>
        </mc:Choice>
        <mc:Fallback xmlns="">
          <p:sp>
            <p:nvSpPr>
              <p:cNvPr id="8" name="コンテンツ プレースホルダー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3"/>
              </p:nvPr>
            </p:nvSpPr>
            <p:spPr>
              <a:xfrm>
                <a:off x="459380" y="4437112"/>
                <a:ext cx="8229600" cy="1866528"/>
              </a:xfrm>
              <a:blipFill rotWithShape="1">
                <a:blip r:embed="rId3"/>
                <a:stretch>
                  <a:fillRect l="-96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4783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観測誤差のある制御系　</a:t>
            </a:r>
            <a:r>
              <a:rPr lang="en-US" altLang="ja-JP" dirty="0"/>
              <a:t>2/3</a:t>
            </a:r>
            <a:endParaRPr kumimoji="1" lang="ja-JP" altLang="en-US" dirty="0"/>
          </a:p>
        </p:txBody>
      </p:sp>
      <p:pic>
        <p:nvPicPr>
          <p:cNvPr id="5" name="コンテンツ プレースホルダー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411" y="1196975"/>
            <a:ext cx="7325178" cy="5127625"/>
          </a:xfrm>
        </p:spPr>
      </p:pic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5667475" y="2780928"/>
            <a:ext cx="2000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rgbClr val="FF0000"/>
                </a:solidFill>
              </a:rPr>
              <a:t>理想的な観測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236268" y="5055567"/>
            <a:ext cx="2432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ja-JP" altLang="en-US" sz="2400" dirty="0">
                <a:solidFill>
                  <a:srgbClr val="FF0000"/>
                </a:solidFill>
              </a:rPr>
              <a:t>ノイズのある</a:t>
            </a:r>
            <a:r>
              <a:rPr kumimoji="1" lang="ja-JP" altLang="en-US" sz="2400" dirty="0">
                <a:solidFill>
                  <a:srgbClr val="FF0000"/>
                </a:solidFill>
              </a:rPr>
              <a:t>観測</a:t>
            </a:r>
          </a:p>
        </p:txBody>
      </p:sp>
    </p:spTree>
    <p:extLst>
      <p:ext uri="{BB962C8B-B14F-4D97-AF65-F5344CB8AC3E}">
        <p14:creationId xmlns:p14="http://schemas.microsoft.com/office/powerpoint/2010/main" val="3668615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観測誤差のある制御系　</a:t>
            </a:r>
            <a:r>
              <a:rPr lang="en-US" altLang="ja-JP" dirty="0"/>
              <a:t>3/3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コンテンツ プレースホルダー 8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4293096"/>
                <a:ext cx="8229600" cy="2031504"/>
              </a:xfrm>
            </p:spPr>
            <p:txBody>
              <a:bodyPr>
                <a:normAutofit/>
              </a:bodyPr>
              <a:lstStyle/>
              <a:p>
                <a:r>
                  <a:rPr lang="ja-JP" altLang="en-US" dirty="0"/>
                  <a:t>収束が悪い</a:t>
                </a:r>
                <a:endParaRPr lang="en-US" altLang="ja-JP" dirty="0"/>
              </a:p>
              <a:p>
                <a:r>
                  <a:rPr kumimoji="1" lang="ja-JP" altLang="en-US" dirty="0"/>
                  <a:t>微分制御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/>
                      </a:rPr>
                      <m:t>𝑢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altLang="ja-JP" i="1">
                        <a:latin typeface="Cambria Math"/>
                      </a:rPr>
                      <m:t>=−</m:t>
                    </m:r>
                    <m:r>
                      <a:rPr lang="en-US" altLang="ja-JP" i="1">
                        <a:latin typeface="Cambria Math"/>
                      </a:rPr>
                      <m:t>𝐾</m:t>
                    </m:r>
                    <m:acc>
                      <m:accPr>
                        <m:chr m:val="̇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r>
                  <a:rPr kumimoji="1" lang="ja-JP" altLang="en-US" dirty="0"/>
                  <a:t> で改善したい！</a:t>
                </a:r>
                <a:endParaRPr kumimoji="1" lang="en-US" altLang="ja-JP" dirty="0"/>
              </a:p>
              <a:p>
                <a:r>
                  <a:rPr lang="ja-JP" altLang="en-US" dirty="0"/>
                  <a:t>しかし、観測は変位のみ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/>
                      </a:rPr>
                      <m:t>𝑦</m:t>
                    </m:r>
                    <m:r>
                      <a:rPr lang="en-US" altLang="ja-JP" b="0" i="1" smtClean="0">
                        <a:latin typeface="Cambria Math"/>
                      </a:rPr>
                      <m:t>=</m:t>
                    </m:r>
                    <m:r>
                      <a:rPr lang="en-US" altLang="ja-JP" b="0" i="1" smtClean="0">
                        <a:latin typeface="Cambria Math"/>
                      </a:rPr>
                      <m:t>𝑥</m:t>
                    </m:r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9" name="コンテンツ プレースホルダー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4293096"/>
                <a:ext cx="8229600" cy="2031504"/>
              </a:xfrm>
              <a:blipFill rotWithShape="1">
                <a:blip r:embed="rId4"/>
                <a:stretch>
                  <a:fillRect l="-963" t="-479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1dof-free-num-ran.wm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5"/>
          <a:srcRect l="8371" t="32323" r="13483" b="32734"/>
          <a:stretch/>
        </p:blipFill>
        <p:spPr bwMode="auto">
          <a:xfrm>
            <a:off x="179512" y="1412776"/>
            <a:ext cx="8715375" cy="2938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6708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80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/>
              <a:t>数値微分による速度推定 </a:t>
            </a:r>
            <a:r>
              <a:rPr lang="en-US" altLang="ja-JP"/>
              <a:t>1/2</a:t>
            </a:r>
            <a:endParaRPr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コンテンツ プレースホルダー 1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96752"/>
                <a:ext cx="8435280" cy="5127848"/>
              </a:xfrm>
            </p:spPr>
            <p:txBody>
              <a:bodyPr/>
              <a:lstStyle/>
              <a:p>
                <a:pPr>
                  <a:lnSpc>
                    <a:spcPct val="200000"/>
                  </a:lnSpc>
                </a:pPr>
                <a:r>
                  <a:rPr lang="ja-JP" altLang="en-US" dirty="0"/>
                  <a:t>観測量</a:t>
                </a:r>
                <a:r>
                  <a:rPr lang="en-US" altLang="ja-JP" dirty="0"/>
                  <a:t>	</a:t>
                </a:r>
                <a14:m>
                  <m:oMath xmlns:m="http://schemas.openxmlformats.org/officeDocument/2006/math">
                    <m:r>
                      <a:rPr lang="en-US" altLang="ja-JP">
                        <a:latin typeface="Cambria Math"/>
                      </a:rPr>
                      <m:t>𝑦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altLang="ja-JP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>
                            <a:latin typeface="Cambria Math"/>
                          </a:rPr>
                          <m:t>1,0</m:t>
                        </m:r>
                      </m:e>
                    </m:d>
                    <m:r>
                      <a:rPr lang="en-US" altLang="ja-JP">
                        <a:latin typeface="Cambria Math"/>
                      </a:rPr>
                      <m:t>𝒙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altLang="ja-JP">
                        <a:latin typeface="Cambria Math"/>
                      </a:rPr>
                      <m:t>=</m:t>
                    </m:r>
                    <m:r>
                      <a:rPr lang="en-US" altLang="ja-JP">
                        <a:latin typeface="Cambria Math"/>
                      </a:rPr>
                      <m:t>𝑥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ja-JP" dirty="0"/>
                  <a:t>	※</a:t>
                </a:r>
                <a:r>
                  <a:rPr lang="ja-JP" altLang="en-US" dirty="0"/>
                  <a:t>変位</a:t>
                </a:r>
                <a:endParaRPr lang="en-US" altLang="ja-JP" dirty="0"/>
              </a:p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̇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>
                                <a:latin typeface="Cambria Math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US" altLang="ja-JP">
                            <a:latin typeface="Cambria Math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ja-JP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>
                            <a:latin typeface="Cambria Math"/>
                          </a:rPr>
                          <m:t>∆</m:t>
                        </m:r>
                        <m:r>
                          <a:rPr lang="en-US" altLang="ja-JP">
                            <a:latin typeface="Cambria Math"/>
                          </a:rPr>
                          <m:t>𝑦</m:t>
                        </m:r>
                      </m:num>
                      <m:den>
                        <m:r>
                          <a:rPr lang="en-US" altLang="ja-JP">
                            <a:latin typeface="Cambria Math"/>
                          </a:rPr>
                          <m:t>∆</m:t>
                        </m:r>
                        <m:r>
                          <a:rPr lang="en-US" altLang="ja-JP">
                            <a:latin typeface="Cambria Math"/>
                          </a:rPr>
                          <m:t>𝑡</m:t>
                        </m:r>
                      </m:den>
                    </m:f>
                    <m:r>
                      <a:rPr lang="en-US" altLang="ja-JP">
                        <a:latin typeface="Cambria Math"/>
                      </a:rPr>
                      <m:t>≔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>
                            <a:latin typeface="Cambria Math"/>
                          </a:rPr>
                          <m:t>𝑦</m:t>
                        </m:r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>
                                    <a:latin typeface="Cambria Math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ja-JP">
                            <a:latin typeface="Cambria Math"/>
                          </a:rPr>
                          <m:t>−</m:t>
                        </m:r>
                        <m:r>
                          <a:rPr lang="en-US" altLang="ja-JP">
                            <a:latin typeface="Cambria Math"/>
                          </a:rPr>
                          <m:t>𝑦</m:t>
                        </m:r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>
                                    <a:latin typeface="Cambria Math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altLang="ja-JP">
                                    <a:latin typeface="Cambria Math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altLang="ja-JP">
                            <a:latin typeface="Cambria Math"/>
                          </a:rPr>
                          <m:t>∆</m:t>
                        </m:r>
                        <m:r>
                          <a:rPr lang="en-US" altLang="ja-JP">
                            <a:latin typeface="Cambria Math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ja-JP" dirty="0"/>
                  <a:t>   </a:t>
                </a:r>
                <a14:m>
                  <m:oMath xmlns:m="http://schemas.openxmlformats.org/officeDocument/2006/math">
                    <m:r>
                      <a:rPr lang="en-US" altLang="ja-JP">
                        <a:latin typeface="Cambria Math"/>
                      </a:rPr>
                      <m:t>∆</m:t>
                    </m:r>
                    <m:r>
                      <a:rPr lang="en-US" altLang="ja-JP">
                        <a:latin typeface="Cambria Math"/>
                      </a:rPr>
                      <m:t>𝑡</m:t>
                    </m:r>
                  </m:oMath>
                </a14:m>
                <a:r>
                  <a:rPr lang="ja-JP" altLang="en-US" dirty="0"/>
                  <a:t> </a:t>
                </a:r>
                <a:r>
                  <a:rPr lang="ja-JP" altLang="en-US" sz="2400" dirty="0"/>
                  <a:t>はサンプリング間隔</a:t>
                </a:r>
              </a:p>
              <a:p>
                <a:pPr>
                  <a:lnSpc>
                    <a:spcPct val="200000"/>
                  </a:lnSpc>
                </a:pPr>
                <a:r>
                  <a:rPr lang="ja-JP" altLang="en-US" dirty="0"/>
                  <a:t>数値微分制御　</a:t>
                </a:r>
                <a14:m>
                  <m:oMath xmlns:m="http://schemas.openxmlformats.org/officeDocument/2006/math">
                    <m:r>
                      <a:rPr lang="en-US" altLang="ja-JP">
                        <a:latin typeface="Cambria Math"/>
                      </a:rPr>
                      <m:t>𝑢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altLang="ja-JP">
                        <a:latin typeface="Cambria Math"/>
                      </a:rPr>
                      <m:t>=−</m:t>
                    </m:r>
                    <m:r>
                      <a:rPr lang="en-US" altLang="ja-JP">
                        <a:latin typeface="Cambria Math"/>
                      </a:rPr>
                      <m:t>𝐾</m:t>
                    </m:r>
                    <m:acc>
                      <m:accPr>
                        <m:chr m:val="̇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>
                            <a:latin typeface="Cambria Math"/>
                          </a:rPr>
                          <m:t>𝑥</m:t>
                        </m:r>
                      </m:e>
                    </m:acc>
                    <m:r>
                      <a:rPr lang="en-US" altLang="ja-JP">
                        <a:latin typeface="Cambria Math"/>
                      </a:rPr>
                      <m:t>≈−</m:t>
                    </m:r>
                    <m:r>
                      <a:rPr lang="en-US" altLang="ja-JP">
                        <a:latin typeface="Cambria Math"/>
                      </a:rPr>
                      <m:t>𝐾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̇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>
                                <a:latin typeface="Cambria Math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US" altLang="ja-JP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2" name="コンテンツ プレースホルダー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96752"/>
                <a:ext cx="8435280" cy="5127848"/>
              </a:xfrm>
              <a:blipFill rotWithShape="1">
                <a:blip r:embed="rId2"/>
                <a:stretch>
                  <a:fillRect l="-93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6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83978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数値微分による速度推定 </a:t>
            </a:r>
            <a:r>
              <a:rPr lang="en-US" altLang="ja-JP" dirty="0"/>
              <a:t>2/2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  <p:pic>
        <p:nvPicPr>
          <p:cNvPr id="7" name="コンテンツ プレースホルダー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58" y="1325711"/>
            <a:ext cx="7325178" cy="5127625"/>
          </a:xfrm>
        </p:spPr>
      </p:pic>
      <p:sp>
        <p:nvSpPr>
          <p:cNvPr id="8" name="左矢印 7"/>
          <p:cNvSpPr/>
          <p:nvPr/>
        </p:nvSpPr>
        <p:spPr>
          <a:xfrm>
            <a:off x="7301278" y="4421831"/>
            <a:ext cx="720080" cy="576064"/>
          </a:xfrm>
          <a:prstGeom prst="lef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7308304" y="3914249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solidFill>
                  <a:srgbClr val="FF0000"/>
                </a:solidFill>
              </a:rPr>
              <a:t>高周波増幅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976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3600" dirty="0"/>
              <a:t>数値微分による速度推定 制御結果 </a:t>
            </a:r>
            <a:r>
              <a:rPr lang="en-US" altLang="ja-JP" sz="3600" dirty="0"/>
              <a:t>1/2</a:t>
            </a:r>
            <a:endParaRPr kumimoji="1" lang="ja-JP" altLang="en-US" sz="36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8</a:t>
            </a:fld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コンテンツ プレースホルダー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4365104"/>
                <a:ext cx="8229600" cy="1959495"/>
              </a:xfrm>
            </p:spPr>
            <p:txBody>
              <a:bodyPr/>
              <a:lstStyle/>
              <a:p>
                <a:r>
                  <a:rPr lang="ja-JP" altLang="en-US" dirty="0"/>
                  <a:t>激しく振動．安定しない．</a:t>
                </a:r>
                <a:endParaRPr lang="en-US" altLang="ja-JP" dirty="0"/>
              </a:p>
              <a:p>
                <a:pPr marL="0" indent="0" algn="ctr">
                  <a:buNone/>
                </a:pPr>
                <a:r>
                  <a:rPr lang="ja-JP" altLang="en-US" dirty="0"/>
                  <a:t>∵数値微分制御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/>
                      </a:rPr>
                      <m:t>𝑢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altLang="ja-JP" b="0" i="1" smtClean="0">
                        <a:latin typeface="Cambria Math"/>
                      </a:rPr>
                      <m:t>=</m:t>
                    </m:r>
                    <m:r>
                      <a:rPr lang="en-US" altLang="ja-JP" i="1">
                        <a:latin typeface="Cambria Math"/>
                      </a:rPr>
                      <m:t>−</m:t>
                    </m:r>
                    <m:r>
                      <a:rPr lang="en-US" altLang="ja-JP" i="1">
                        <a:latin typeface="Cambria Math"/>
                      </a:rPr>
                      <m:t>𝐾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>
                            <a:latin typeface="Cambria Math"/>
                            <a:ea typeface="Cambria Math"/>
                          </a:rPr>
                          <m:t>∆</m:t>
                        </m:r>
                        <m:r>
                          <a:rPr lang="en-US" altLang="ja-JP" i="1">
                            <a:latin typeface="Cambria Math"/>
                            <a:ea typeface="Cambria Math"/>
                          </a:rPr>
                          <m:t>𝑦</m:t>
                        </m:r>
                      </m:num>
                      <m:den>
                        <m:r>
                          <a:rPr lang="en-US" altLang="ja-JP">
                            <a:latin typeface="Cambria Math"/>
                            <a:ea typeface="Cambria Math"/>
                          </a:rPr>
                          <m:t>∆</m:t>
                        </m:r>
                        <m:r>
                          <a:rPr lang="en-US" altLang="ja-JP" i="1">
                            <a:latin typeface="Cambria Math"/>
                            <a:ea typeface="Cambria Math"/>
                          </a:rPr>
                          <m:t>𝑡</m:t>
                        </m:r>
                      </m:den>
                    </m:f>
                  </m:oMath>
                </a14:m>
                <a:r>
                  <a:rPr kumimoji="1" lang="ja-JP" altLang="en-US" dirty="0"/>
                  <a:t> が暴れてる</a:t>
                </a:r>
              </a:p>
            </p:txBody>
          </p:sp>
        </mc:Choice>
        <mc:Fallback xmlns="">
          <p:sp>
            <p:nvSpPr>
              <p:cNvPr id="6" name="コンテンツ プレースホルダー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4365104"/>
                <a:ext cx="8229600" cy="1959495"/>
              </a:xfrm>
              <a:blipFill rotWithShape="1">
                <a:blip r:embed="rId4"/>
                <a:stretch>
                  <a:fillRect l="-963" t="-498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1dof-ctrl-num-ran.wm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5"/>
          <a:srcRect l="6916" t="31842" r="11484" b="31288"/>
          <a:stretch/>
        </p:blipFill>
        <p:spPr bwMode="auto">
          <a:xfrm>
            <a:off x="251520" y="1251259"/>
            <a:ext cx="8715375" cy="2969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0874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8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3600" dirty="0"/>
              <a:t>数値微分による速度推定 制御結果 </a:t>
            </a:r>
            <a:r>
              <a:rPr lang="en-US" altLang="ja-JP" sz="3600" dirty="0"/>
              <a:t>2/2</a:t>
            </a:r>
            <a:endParaRPr kumimoji="1" lang="ja-JP" altLang="en-US" sz="3600" dirty="0"/>
          </a:p>
        </p:txBody>
      </p:sp>
      <p:pic>
        <p:nvPicPr>
          <p:cNvPr id="5" name="コンテンツ プレースホルダー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325712"/>
            <a:ext cx="7325178" cy="5127624"/>
          </a:xfrm>
        </p:spPr>
      </p:pic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9</a:t>
            </a:fld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7308304" y="3125689"/>
            <a:ext cx="1800493" cy="92333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dirty="0"/>
              <a:t>収束性は改善</a:t>
            </a:r>
            <a:endParaRPr kumimoji="1" lang="en-US" altLang="ja-JP" dirty="0"/>
          </a:p>
          <a:p>
            <a:pPr algn="ctr"/>
            <a:r>
              <a:rPr kumimoji="1" lang="en-US" altLang="ja-JP" dirty="0"/>
              <a:t>but</a:t>
            </a:r>
          </a:p>
          <a:p>
            <a:pPr algn="ctr"/>
            <a:r>
              <a:rPr lang="ja-JP" altLang="en-US" dirty="0"/>
              <a:t>高周波振動発生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98464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コンテンツ プレースホルダー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3" t="42344"/>
          <a:stretch/>
        </p:blipFill>
        <p:spPr bwMode="auto">
          <a:xfrm>
            <a:off x="611560" y="1264715"/>
            <a:ext cx="6796090" cy="2956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移動平均による瀘波　定義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10</a:t>
            </a:fld>
            <a:endParaRPr kumimoji="1" lang="ja-JP" altLang="en-US" dirty="0"/>
          </a:p>
        </p:txBody>
      </p:sp>
      <p:sp>
        <p:nvSpPr>
          <p:cNvPr id="10" name="左矢印 9"/>
          <p:cNvSpPr/>
          <p:nvPr/>
        </p:nvSpPr>
        <p:spPr>
          <a:xfrm>
            <a:off x="7067248" y="2315543"/>
            <a:ext cx="720080" cy="576064"/>
          </a:xfrm>
          <a:prstGeom prst="lef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7211264" y="2908887"/>
            <a:ext cx="1675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solidFill>
                  <a:srgbClr val="0000FF"/>
                </a:solidFill>
              </a:rPr>
              <a:t>カットしたい</a:t>
            </a:r>
            <a:endParaRPr kumimoji="1" lang="ja-JP" altLang="en-US" sz="2400" dirty="0">
              <a:solidFill>
                <a:srgbClr val="0000FF"/>
              </a:solidFill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7211264" y="1887215"/>
            <a:ext cx="16834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solidFill>
                  <a:srgbClr val="0000FF"/>
                </a:solidFill>
              </a:rPr>
              <a:t>高周波だけ</a:t>
            </a:r>
            <a:endParaRPr kumimoji="1" lang="ja-JP" altLang="en-US" sz="2400" dirty="0">
              <a:solidFill>
                <a:srgbClr val="0000FF"/>
              </a:solidFill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2170704" y="1556792"/>
            <a:ext cx="360040" cy="181376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/>
          <p:cNvSpPr/>
          <p:nvPr/>
        </p:nvSpPr>
        <p:spPr>
          <a:xfrm>
            <a:off x="2446379" y="2276888"/>
            <a:ext cx="144000" cy="144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矢印コネクタ 6"/>
          <p:cNvCxnSpPr>
            <a:stCxn id="16" idx="1"/>
            <a:endCxn id="5" idx="5"/>
          </p:cNvCxnSpPr>
          <p:nvPr/>
        </p:nvCxnSpPr>
        <p:spPr>
          <a:xfrm flipH="1" flipV="1">
            <a:off x="2569291" y="2399800"/>
            <a:ext cx="490541" cy="650307"/>
          </a:xfrm>
          <a:prstGeom prst="straightConnector1">
            <a:avLst/>
          </a:prstGeom>
          <a:ln w="19050">
            <a:solidFill>
              <a:srgbClr val="FF006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/>
          <p:cNvSpPr txBox="1"/>
          <p:nvPr/>
        </p:nvSpPr>
        <p:spPr>
          <a:xfrm>
            <a:off x="3059832" y="2819274"/>
            <a:ext cx="2031325" cy="461665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rgbClr val="FF0066"/>
                </a:solidFill>
              </a:rPr>
              <a:t>枠内の平均値</a:t>
            </a:r>
          </a:p>
        </p:txBody>
      </p:sp>
      <p:sp>
        <p:nvSpPr>
          <p:cNvPr id="17" name="右矢印 16"/>
          <p:cNvSpPr/>
          <p:nvPr/>
        </p:nvSpPr>
        <p:spPr>
          <a:xfrm>
            <a:off x="2561438" y="1628800"/>
            <a:ext cx="585411" cy="433982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3131840" y="166714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rgbClr val="00B050"/>
                </a:solidFill>
              </a:rPr>
              <a:t>移動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コンテンツ プレースホルダー 21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4153125"/>
                <a:ext cx="8229600" cy="2171475"/>
              </a:xfrm>
            </p:spPr>
            <p:txBody>
              <a:bodyPr/>
              <a:lstStyle/>
              <a:p>
                <a:r>
                  <a:rPr kumimoji="1" lang="ja-JP" altLang="en-US" dirty="0"/>
                  <a:t>移動平均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ja-JP" sz="2800" b="0" i="1" smtClean="0">
                              <a:solidFill>
                                <a:srgbClr val="FF0066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2800" b="0" i="1" smtClean="0">
                              <a:solidFill>
                                <a:srgbClr val="FF0066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kumimoji="1" lang="en-US" altLang="ja-JP" sz="2800" b="0" i="1" dirty="0" smtClean="0">
                              <a:solidFill>
                                <a:srgbClr val="FF006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ja-JP" sz="2800" b="0" i="1" dirty="0" smtClean="0">
                                  <a:solidFill>
                                    <a:srgbClr val="FF006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800" b="0" i="1" dirty="0" smtClean="0">
                                  <a:solidFill>
                                    <a:srgbClr val="FF0066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ja-JP" sz="2800" b="0" i="1" dirty="0" smtClean="0">
                                  <a:solidFill>
                                    <a:srgbClr val="FF0066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kumimoji="1" lang="en-US" altLang="ja-JP" sz="2800" b="0" i="1" dirty="0" smtClean="0">
                          <a:latin typeface="Cambria Math"/>
                        </a:rPr>
                        <m:t>≔</m:t>
                      </m:r>
                      <m:f>
                        <m:fPr>
                          <m:ctrlPr>
                            <a:rPr kumimoji="1" lang="en-US" altLang="ja-JP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ja-JP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800" i="1" dirty="0">
                                      <a:latin typeface="Cambria Math"/>
                                    </a:rPr>
                                    <m:t>𝑦</m:t>
                                  </m:r>
                                  <m:r>
                                    <a:rPr lang="en-US" altLang="ja-JP" sz="2800" i="1" dirty="0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US" altLang="ja-JP" sz="2800" i="1" dirty="0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ja-JP" sz="2800" i="1" dirty="0"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en-US" altLang="ja-JP" sz="2800" i="1" dirty="0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altLang="ja-JP" sz="2800" b="0" i="1" dirty="0" smtClean="0">
                                      <a:latin typeface="Cambria Math"/>
                                    </a:rPr>
                                    <m:t>𝑠</m:t>
                                  </m:r>
                                  <m:r>
                                    <a:rPr lang="en-US" altLang="ja-JP" sz="2800" b="0" i="1" dirty="0" smtClean="0">
                                      <a:latin typeface="Cambria Math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ja-JP" sz="2800" i="1" dirty="0">
                                  <a:latin typeface="Cambria Math"/>
                                </a:rPr>
                                <m:t>)+</m:t>
                              </m:r>
                              <m:r>
                                <a:rPr lang="en-US" altLang="ja-JP" sz="2800" b="0" i="1" dirty="0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altLang="ja-JP" sz="2800" i="1" dirty="0" smtClean="0">
                                  <a:latin typeface="Cambria Math"/>
                                  <a:ea typeface="Cambria Math"/>
                                </a:rPr>
                                <m:t>⋯</m:t>
                              </m:r>
                              <m:r>
                                <a:rPr lang="en-US" altLang="ja-JP" sz="2800" b="0" i="1" dirty="0" smtClean="0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>
                                <a:rPr lang="en-US" altLang="ja-JP" sz="2800" b="0" i="1" dirty="0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altLang="ja-JP" sz="2800" i="1" dirty="0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altLang="ja-JP" sz="2800" i="1" dirty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altLang="ja-JP" sz="2800" i="1" dirty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ja-JP" sz="2800" i="1" dirty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altLang="ja-JP" sz="2800" i="1" dirty="0">
                                  <a:latin typeface="Cambria Math"/>
                                </a:rPr>
                                <m:t>−2</m:t>
                              </m:r>
                            </m:sub>
                          </m:sSub>
                          <m:r>
                            <a:rPr lang="en-US" altLang="ja-JP" sz="2800" i="1" dirty="0">
                              <a:latin typeface="Cambria Math"/>
                            </a:rPr>
                            <m:t>)+</m:t>
                          </m:r>
                          <m:sSub>
                            <m:sSubPr>
                              <m:ctrlPr>
                                <a:rPr lang="en-US" altLang="ja-JP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800" b="0" i="1" dirty="0" smtClean="0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altLang="ja-JP" sz="2800" b="0" i="1" dirty="0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altLang="ja-JP" sz="2800" i="1" dirty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ja-JP" sz="2800" i="1" dirty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altLang="ja-JP" sz="2800" i="1" dirty="0">
                                  <a:latin typeface="Cambria Math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ja-JP" sz="2800" b="0" i="1" dirty="0" smtClean="0">
                              <a:latin typeface="Cambria Math"/>
                            </a:rPr>
                            <m:t>)</m:t>
                          </m:r>
                          <m:r>
                            <a:rPr lang="en-US" altLang="ja-JP" sz="2800" i="1" dirty="0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ja-JP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800" b="0" i="1" dirty="0" smtClean="0">
                                  <a:latin typeface="Cambria Math"/>
                                </a:rPr>
                                <m:t>𝑦</m:t>
                              </m:r>
                              <m:r>
                                <a:rPr kumimoji="1" lang="en-US" altLang="ja-JP" sz="2800" b="0" i="1" dirty="0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kumimoji="1" lang="en-US" altLang="ja-JP" sz="2800" b="0" i="1" dirty="0" smtClean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ja-JP" sz="2800" b="0" i="1" dirty="0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en-US" altLang="ja-JP" sz="2800" b="0" i="1" dirty="0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kumimoji="1" lang="en-US" altLang="ja-JP" sz="2800" b="0" i="1" dirty="0" smtClean="0">
                              <a:latin typeface="Cambria Math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kumimoji="1" lang="en-US" altLang="ja-JP" dirty="0"/>
              </a:p>
              <a:p>
                <a:pPr marL="0" indent="0">
                  <a:buNone/>
                </a:pPr>
                <a:r>
                  <a:rPr kumimoji="1" lang="ja-JP" altLang="en-US" dirty="0"/>
                  <a:t>（過去から現在までの平均）</a:t>
                </a:r>
              </a:p>
            </p:txBody>
          </p:sp>
        </mc:Choice>
        <mc:Fallback xmlns="">
          <p:sp>
            <p:nvSpPr>
              <p:cNvPr id="22" name="コンテンツ プレースホルダー 2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4153125"/>
                <a:ext cx="8229600" cy="2171475"/>
              </a:xfrm>
              <a:blipFill rotWithShape="1">
                <a:blip r:embed="rId3"/>
                <a:stretch>
                  <a:fillRect l="-1852" t="-4482" b="-168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1845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移動平均による瀘波　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11</a:t>
            </a:fld>
            <a:endParaRPr kumimoji="1" lang="ja-JP" altLang="en-US" dirty="0"/>
          </a:p>
        </p:txBody>
      </p:sp>
      <p:pic>
        <p:nvPicPr>
          <p:cNvPr id="9" name="コンテンツ プレースホルダー 8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325711"/>
            <a:ext cx="7325178" cy="5127625"/>
          </a:xfrm>
        </p:spPr>
      </p:pic>
      <p:sp>
        <p:nvSpPr>
          <p:cNvPr id="10" name="左矢印 9"/>
          <p:cNvSpPr/>
          <p:nvPr/>
        </p:nvSpPr>
        <p:spPr>
          <a:xfrm>
            <a:off x="7308304" y="2549624"/>
            <a:ext cx="720080" cy="576064"/>
          </a:xfrm>
          <a:prstGeom prst="lef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7812360" y="3142968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solidFill>
                  <a:srgbClr val="FF0000"/>
                </a:solidFill>
              </a:rPr>
              <a:t>改善？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sp>
        <p:nvSpPr>
          <p:cNvPr id="12" name="左矢印 11"/>
          <p:cNvSpPr/>
          <p:nvPr/>
        </p:nvSpPr>
        <p:spPr>
          <a:xfrm>
            <a:off x="7301278" y="4421831"/>
            <a:ext cx="720080" cy="576064"/>
          </a:xfrm>
          <a:prstGeom prst="lef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7308304" y="3914249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solidFill>
                  <a:srgbClr val="FF0000"/>
                </a:solidFill>
              </a:rPr>
              <a:t>高周波増幅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7628274" y="2078905"/>
            <a:ext cx="13388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solidFill>
                  <a:srgbClr val="FF0000"/>
                </a:solidFill>
              </a:rPr>
              <a:t>滑らかに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515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4000" dirty="0"/>
              <a:t>移動平均による瀘波 制御結果 </a:t>
            </a:r>
            <a:r>
              <a:rPr lang="en-US" altLang="ja-JP" sz="4000" dirty="0"/>
              <a:t>1/2</a:t>
            </a:r>
            <a:endParaRPr kumimoji="1" lang="ja-JP" altLang="en-US" sz="40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12</a:t>
            </a:fld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>
          <a:xfrm>
            <a:off x="457200" y="4437112"/>
            <a:ext cx="8229600" cy="18874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ja-JP" altLang="en-US" dirty="0"/>
              <a:t>激しい振動は解消</a:t>
            </a:r>
            <a:endParaRPr kumimoji="1" lang="en-US" altLang="ja-JP" dirty="0"/>
          </a:p>
          <a:p>
            <a:pPr>
              <a:lnSpc>
                <a:spcPct val="150000"/>
              </a:lnSpc>
            </a:pPr>
            <a:r>
              <a:rPr lang="ja-JP" altLang="en-US" dirty="0"/>
              <a:t>ゆらぎ幅は増大</a:t>
            </a:r>
            <a:r>
              <a:rPr lang="en-US" altLang="ja-JP" dirty="0"/>
              <a:t>	</a:t>
            </a:r>
            <a:r>
              <a:rPr lang="en-US" altLang="ja-JP" dirty="0">
                <a:sym typeface="Wingdings" pitchFamily="2" charset="2"/>
              </a:rPr>
              <a:t> </a:t>
            </a:r>
            <a:r>
              <a:rPr lang="ja-JP" altLang="en-US" dirty="0"/>
              <a:t>改善効果はイマイチ</a:t>
            </a:r>
            <a:endParaRPr kumimoji="1" lang="ja-JP" altLang="en-US" dirty="0"/>
          </a:p>
        </p:txBody>
      </p:sp>
      <p:pic>
        <p:nvPicPr>
          <p:cNvPr id="8" name="1dof-ctrl-numma-ran.wm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l="8734" t="32565" r="13664" b="32733"/>
          <a:stretch/>
        </p:blipFill>
        <p:spPr bwMode="auto">
          <a:xfrm>
            <a:off x="251520" y="1353951"/>
            <a:ext cx="8715375" cy="2939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0578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8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移動平均による瀘波 制御結果 </a:t>
            </a:r>
            <a:r>
              <a:rPr lang="en-US" altLang="ja-JP" dirty="0"/>
              <a:t>2/2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13</a:t>
            </a:fld>
            <a:endParaRPr kumimoji="1" lang="ja-JP" altLang="en-US" dirty="0"/>
          </a:p>
        </p:txBody>
      </p:sp>
      <p:pic>
        <p:nvPicPr>
          <p:cNvPr id="9" name="コンテンツ プレースホルダー 8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411" y="1196975"/>
            <a:ext cx="7325178" cy="5127624"/>
          </a:xfrm>
        </p:spPr>
      </p:pic>
    </p:spTree>
    <p:extLst>
      <p:ext uri="{BB962C8B-B14F-4D97-AF65-F5344CB8AC3E}">
        <p14:creationId xmlns:p14="http://schemas.microsoft.com/office/powerpoint/2010/main" val="2651109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2150914"/>
            <a:ext cx="7772400" cy="1710134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現代確率論による</a:t>
            </a:r>
            <a:br>
              <a:rPr kumimoji="1" lang="en-US" altLang="ja-JP" dirty="0"/>
            </a:br>
            <a:r>
              <a:rPr kumimoji="1" lang="ja-JP" altLang="en-US" dirty="0"/>
              <a:t>（</a:t>
            </a:r>
            <a:r>
              <a:rPr lang="ja-JP" altLang="en-US" dirty="0"/>
              <a:t>驚くべき）</a:t>
            </a:r>
            <a:r>
              <a:rPr kumimoji="1" lang="ja-JP" altLang="en-US" dirty="0"/>
              <a:t>結果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初等的なデータ解析（四則演算）では実現できない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14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99502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3600" dirty="0" err="1"/>
              <a:t>Kalman-Bucy</a:t>
            </a:r>
            <a:r>
              <a:rPr kumimoji="1" lang="en-US" altLang="ja-JP" sz="3600" dirty="0"/>
              <a:t> </a:t>
            </a:r>
            <a:r>
              <a:rPr kumimoji="1" lang="ja-JP" altLang="en-US" sz="3600" dirty="0"/>
              <a:t>フィルタによる瀘波</a:t>
            </a:r>
          </a:p>
        </p:txBody>
      </p:sp>
      <p:pic>
        <p:nvPicPr>
          <p:cNvPr id="5" name="コンテンツ プレースホルダー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325712"/>
            <a:ext cx="7325178" cy="5127624"/>
          </a:xfrm>
        </p:spPr>
      </p:pic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15</a:t>
            </a:fld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7164288" y="3109139"/>
            <a:ext cx="1705916" cy="83099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solidFill>
                  <a:srgbClr val="FF0000"/>
                </a:solidFill>
              </a:rPr>
              <a:t>推定値</a:t>
            </a:r>
            <a:r>
              <a:rPr lang="ja-JP" altLang="en-US" sz="2400" dirty="0"/>
              <a:t>が</a:t>
            </a:r>
            <a:endParaRPr lang="en-US" altLang="ja-JP" sz="2400" dirty="0"/>
          </a:p>
          <a:p>
            <a:r>
              <a:rPr kumimoji="1" lang="ja-JP" altLang="en-US" sz="2400" dirty="0"/>
              <a:t>完全に一致</a:t>
            </a:r>
          </a:p>
        </p:txBody>
      </p:sp>
    </p:spTree>
    <p:extLst>
      <p:ext uri="{BB962C8B-B14F-4D97-AF65-F5344CB8AC3E}">
        <p14:creationId xmlns:p14="http://schemas.microsoft.com/office/powerpoint/2010/main" val="123589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3600" dirty="0" err="1"/>
              <a:t>Kalman-Bucy</a:t>
            </a:r>
            <a:r>
              <a:rPr kumimoji="1" lang="ja-JP" altLang="en-US" sz="3600" dirty="0"/>
              <a:t>による瀘波　制御結果 </a:t>
            </a:r>
            <a:r>
              <a:rPr kumimoji="1" lang="en-US" altLang="ja-JP" sz="3600" dirty="0"/>
              <a:t>1/2</a:t>
            </a:r>
            <a:endParaRPr kumimoji="1" lang="ja-JP" altLang="en-US" sz="3600" dirty="0"/>
          </a:p>
        </p:txBody>
      </p:sp>
      <p:pic>
        <p:nvPicPr>
          <p:cNvPr id="5" name="コンテンツ プレースホルダー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166" y="1325711"/>
            <a:ext cx="7325178" cy="5127625"/>
          </a:xfrm>
        </p:spPr>
      </p:pic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16</a:t>
            </a:fld>
            <a:endParaRPr kumimoji="1" lang="ja-JP" altLang="en-US" dirty="0"/>
          </a:p>
        </p:txBody>
      </p:sp>
      <p:sp>
        <p:nvSpPr>
          <p:cNvPr id="3" name="正方形/長方形 2"/>
          <p:cNvSpPr/>
          <p:nvPr/>
        </p:nvSpPr>
        <p:spPr>
          <a:xfrm>
            <a:off x="7404700" y="2981672"/>
            <a:ext cx="1415772" cy="1200329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ja-JP" altLang="en-US" sz="2400" dirty="0"/>
              <a:t>推定値が</a:t>
            </a:r>
            <a:endParaRPr lang="en-US" altLang="ja-JP" sz="2400" dirty="0"/>
          </a:p>
          <a:p>
            <a:r>
              <a:rPr lang="ja-JP" altLang="en-US" sz="2400" dirty="0">
                <a:solidFill>
                  <a:srgbClr val="00B050"/>
                </a:solidFill>
              </a:rPr>
              <a:t>真値</a:t>
            </a:r>
            <a:r>
              <a:rPr lang="ja-JP" altLang="en-US" sz="2400" dirty="0"/>
              <a:t>に</a:t>
            </a:r>
            <a:endParaRPr lang="en-US" altLang="ja-JP" sz="2400" dirty="0"/>
          </a:p>
          <a:p>
            <a:r>
              <a:rPr lang="ja-JP" altLang="en-US" sz="2400" dirty="0"/>
              <a:t>ほぼ一致</a:t>
            </a:r>
          </a:p>
        </p:txBody>
      </p:sp>
    </p:spTree>
    <p:extLst>
      <p:ext uri="{BB962C8B-B14F-4D97-AF65-F5344CB8AC3E}">
        <p14:creationId xmlns:p14="http://schemas.microsoft.com/office/powerpoint/2010/main" val="15588678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sz="3600" dirty="0" err="1"/>
              <a:t>Kalman-Bucy</a:t>
            </a:r>
            <a:r>
              <a:rPr lang="ja-JP" altLang="en-US" sz="3600" dirty="0"/>
              <a:t>による瀘波　制御結果 </a:t>
            </a:r>
            <a:r>
              <a:rPr lang="en-US" altLang="ja-JP" sz="3600" dirty="0"/>
              <a:t>2/2</a:t>
            </a:r>
            <a:endParaRPr kumimoji="1" lang="ja-JP" altLang="en-US" sz="36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17</a:t>
            </a:fld>
            <a:endParaRPr kumimoji="1" lang="ja-JP" altLang="en-US" dirty="0"/>
          </a:p>
        </p:txBody>
      </p:sp>
      <p:sp>
        <p:nvSpPr>
          <p:cNvPr id="8" name="コンテンツ プレースホルダー 7"/>
          <p:cNvSpPr>
            <a:spLocks noGrp="1"/>
          </p:cNvSpPr>
          <p:nvPr>
            <p:ph idx="1"/>
          </p:nvPr>
        </p:nvSpPr>
        <p:spPr>
          <a:xfrm>
            <a:off x="457200" y="4365104"/>
            <a:ext cx="8229600" cy="1959496"/>
          </a:xfrm>
        </p:spPr>
        <p:txBody>
          <a:bodyPr/>
          <a:lstStyle/>
          <a:p>
            <a:r>
              <a:rPr kumimoji="1" lang="ja-JP" altLang="en-US" dirty="0">
                <a:solidFill>
                  <a:srgbClr val="0070C0"/>
                </a:solidFill>
              </a:rPr>
              <a:t>推定値</a:t>
            </a:r>
            <a:r>
              <a:rPr kumimoji="1" lang="ja-JP" altLang="en-US" dirty="0"/>
              <a:t>が</a:t>
            </a:r>
            <a:r>
              <a:rPr kumimoji="1" lang="ja-JP" altLang="en-US" dirty="0">
                <a:solidFill>
                  <a:srgbClr val="00B050"/>
                </a:solidFill>
              </a:rPr>
              <a:t>真値</a:t>
            </a:r>
            <a:r>
              <a:rPr kumimoji="1" lang="ja-JP" altLang="en-US" dirty="0"/>
              <a:t>にほぼ一致．</a:t>
            </a:r>
            <a:endParaRPr kumimoji="1" lang="en-US" altLang="ja-JP" dirty="0"/>
          </a:p>
          <a:p>
            <a:r>
              <a:rPr lang="ja-JP" altLang="en-US" dirty="0"/>
              <a:t>良好な制御結果．</a:t>
            </a:r>
            <a:r>
              <a:rPr lang="ja-JP" altLang="en-US" dirty="0">
                <a:solidFill>
                  <a:srgbClr val="FF0000"/>
                </a:solidFill>
              </a:rPr>
              <a:t>なぜこんなに上手くいく</a:t>
            </a:r>
            <a:r>
              <a:rPr kumimoji="1" lang="ja-JP" altLang="en-US" dirty="0">
                <a:solidFill>
                  <a:srgbClr val="FF0000"/>
                </a:solidFill>
              </a:rPr>
              <a:t>？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altLang="ja-JP" dirty="0">
                <a:sym typeface="Wingdings" pitchFamily="2" charset="2"/>
              </a:rPr>
              <a:t></a:t>
            </a:r>
            <a:r>
              <a:rPr lang="ja-JP" altLang="en-US" dirty="0">
                <a:solidFill>
                  <a:srgbClr val="FF0000"/>
                </a:solidFill>
                <a:sym typeface="Wingdings" pitchFamily="2" charset="2"/>
              </a:rPr>
              <a:t>現代確率論</a:t>
            </a:r>
            <a:r>
              <a:rPr lang="ja-JP" altLang="en-US" dirty="0">
                <a:sym typeface="Wingdings" pitchFamily="2" charset="2"/>
              </a:rPr>
              <a:t>を駆使したから</a:t>
            </a:r>
            <a:endParaRPr kumimoji="1" lang="ja-JP" altLang="en-US" dirty="0"/>
          </a:p>
        </p:txBody>
      </p:sp>
      <p:pic>
        <p:nvPicPr>
          <p:cNvPr id="9" name="1dof-ctrl-kbf-ran.wm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l="8916" t="32323" r="13301" b="33216"/>
          <a:stretch/>
        </p:blipFill>
        <p:spPr bwMode="auto">
          <a:xfrm>
            <a:off x="179512" y="1340768"/>
            <a:ext cx="8715375" cy="2911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0537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8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学習目標と履修方法</a:t>
            </a:r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>
          <a:xfrm>
            <a:off x="457200" y="1196752"/>
            <a:ext cx="5637312" cy="54006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ja-JP" altLang="en-US" dirty="0"/>
              <a:t>現代確率論への初歩</a:t>
            </a:r>
            <a:endParaRPr lang="en-US" altLang="ja-JP" dirty="0"/>
          </a:p>
          <a:p>
            <a:pPr lvl="1">
              <a:lnSpc>
                <a:spcPct val="160000"/>
              </a:lnSpc>
            </a:pPr>
            <a:r>
              <a:rPr lang="ja-JP" altLang="en-US" dirty="0"/>
              <a:t>プログラミング主体の入門講座</a:t>
            </a:r>
            <a:endParaRPr lang="en-US" altLang="ja-JP" dirty="0"/>
          </a:p>
          <a:p>
            <a:pPr lvl="1">
              <a:lnSpc>
                <a:spcPct val="160000"/>
              </a:lnSpc>
            </a:pPr>
            <a:r>
              <a:rPr lang="ja-JP" altLang="en-US" dirty="0"/>
              <a:t>力学における高校数学相当</a:t>
            </a:r>
            <a:endParaRPr lang="en-US" altLang="ja-JP" dirty="0"/>
          </a:p>
          <a:p>
            <a:pPr>
              <a:lnSpc>
                <a:spcPct val="150000"/>
              </a:lnSpc>
            </a:pPr>
            <a:r>
              <a:rPr lang="ja-JP" altLang="en-US" dirty="0"/>
              <a:t>この授業の内容：</a:t>
            </a:r>
            <a:endParaRPr kumimoji="1" lang="en-US" altLang="ja-JP" dirty="0"/>
          </a:p>
          <a:p>
            <a:pPr lvl="1">
              <a:lnSpc>
                <a:spcPct val="160000"/>
              </a:lnSpc>
            </a:pPr>
            <a:r>
              <a:rPr lang="ja-JP" altLang="en-US" dirty="0"/>
              <a:t>乱数</a:t>
            </a:r>
            <a:r>
              <a:rPr lang="ja-JP" altLang="en-US"/>
              <a:t>やランダムなデータって？</a:t>
            </a:r>
            <a:endParaRPr lang="en-US" altLang="ja-JP" dirty="0"/>
          </a:p>
          <a:p>
            <a:pPr lvl="1">
              <a:lnSpc>
                <a:spcPct val="160000"/>
              </a:lnSpc>
            </a:pPr>
            <a:r>
              <a:rPr lang="ja-JP" altLang="en-US" dirty="0"/>
              <a:t>どう理解するの？どう解析するの？</a:t>
            </a:r>
            <a:endParaRPr lang="en-US" altLang="ja-JP" dirty="0"/>
          </a:p>
          <a:p>
            <a:pPr>
              <a:lnSpc>
                <a:spcPct val="160000"/>
              </a:lnSpc>
            </a:pPr>
            <a:r>
              <a:rPr lang="ja-JP" altLang="en-US" dirty="0"/>
              <a:t>成績評価</a:t>
            </a:r>
            <a:endParaRPr lang="en-US" altLang="ja-JP" dirty="0"/>
          </a:p>
          <a:p>
            <a:pPr lvl="1">
              <a:lnSpc>
                <a:spcPct val="160000"/>
              </a:lnSpc>
            </a:pPr>
            <a:r>
              <a:rPr lang="ja-JP" altLang="en-US" dirty="0"/>
              <a:t>学習意欲（出席），レポート</a:t>
            </a:r>
            <a:endParaRPr lang="en-US" altLang="ja-JP" dirty="0"/>
          </a:p>
          <a:p>
            <a:pPr lvl="1">
              <a:lnSpc>
                <a:spcPct val="160000"/>
              </a:lnSpc>
            </a:pPr>
            <a:r>
              <a:rPr lang="ja-JP" altLang="en-US" dirty="0"/>
              <a:t>初等的な質問は，吉田研の学生へ</a:t>
            </a:r>
            <a:endParaRPr lang="en-US" altLang="ja-JP" dirty="0"/>
          </a:p>
          <a:p>
            <a:pPr lvl="1">
              <a:lnSpc>
                <a:spcPct val="160000"/>
              </a:lnSpc>
            </a:pPr>
            <a:endParaRPr lang="en-US" altLang="ja-JP" dirty="0"/>
          </a:p>
          <a:p>
            <a:pPr lvl="1">
              <a:lnSpc>
                <a:spcPct val="150000"/>
              </a:lnSpc>
            </a:pPr>
            <a:endParaRPr kumimoji="1" lang="ja-JP" altLang="en-US" dirty="0"/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18</a:t>
            </a:fld>
            <a:endParaRPr kumimoji="1" lang="ja-JP" altLang="en-US" dirty="0"/>
          </a:p>
        </p:txBody>
      </p:sp>
      <p:pic>
        <p:nvPicPr>
          <p:cNvPr id="1026" name="Picture 2" descr="ガチャではじめる確率論入門ー確率空間からカルマンフィルタまで">
            <a:extLst>
              <a:ext uri="{FF2B5EF4-FFF2-40B4-BE49-F238E27FC236}">
                <a16:creationId xmlns:a16="http://schemas.microsoft.com/office/drawing/2014/main" id="{E067E9F3-859D-4417-89CD-1AB9716C8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512" y="2060848"/>
            <a:ext cx="2592288" cy="3684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7144073-1E45-4E7C-B3F0-F73DE0952716}"/>
              </a:ext>
            </a:extLst>
          </p:cNvPr>
          <p:cNvSpPr txBox="1"/>
          <p:nvPr/>
        </p:nvSpPr>
        <p:spPr>
          <a:xfrm>
            <a:off x="6444208" y="1360765"/>
            <a:ext cx="19319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本格的な内容は，</a:t>
            </a:r>
            <a:endParaRPr lang="en-US" altLang="ja-JP" dirty="0"/>
          </a:p>
          <a:p>
            <a:r>
              <a:rPr lang="ja-JP" altLang="en-US" dirty="0"/>
              <a:t>こちらの本で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0991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スケジュール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19</a:t>
            </a:fld>
            <a:endParaRPr kumimoji="1" lang="ja-JP" altLang="en-US" dirty="0"/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9851645D-CC43-4A38-BF94-649763ADA0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439839"/>
              </p:ext>
            </p:extLst>
          </p:nvPr>
        </p:nvGraphicFramePr>
        <p:xfrm>
          <a:off x="1619672" y="1340768"/>
          <a:ext cx="5486400" cy="35052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97304734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718096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ja-JP" altLang="en-US" b="1">
                          <a:effectLst/>
                        </a:rPr>
                        <a:t>単元</a:t>
                      </a:r>
                    </a:p>
                  </a:txBody>
                  <a:tcPr marL="82550" marR="82550" marT="38100" marB="38100" anchor="ctr">
                    <a:lnL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b="1">
                          <a:effectLst/>
                        </a:rPr>
                        <a:t>学習内容</a:t>
                      </a:r>
                    </a:p>
                  </a:txBody>
                  <a:tcPr marL="82550" marR="82550" marT="38100" marB="38100" anchor="ctr">
                    <a:lnL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725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>
                          <a:effectLst/>
                        </a:rPr>
                        <a:t>予習</a:t>
                      </a:r>
                    </a:p>
                  </a:txBody>
                  <a:tcPr marL="82550" marR="82550" marT="38100" marB="38100" anchor="ctr">
                    <a:lnL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u="sng">
                          <a:solidFill>
                            <a:srgbClr val="0969DA"/>
                          </a:solidFill>
                          <a:effectLst/>
                          <a:hlinkClick r:id="rId2"/>
                        </a:rPr>
                        <a:t>» Python/Colab </a:t>
                      </a:r>
                      <a:r>
                        <a:rPr lang="ja-JP" altLang="en-US" u="sng">
                          <a:solidFill>
                            <a:srgbClr val="0969DA"/>
                          </a:solidFill>
                          <a:effectLst/>
                          <a:hlinkClick r:id="rId2"/>
                        </a:rPr>
                        <a:t>超入門</a:t>
                      </a:r>
                      <a:endParaRPr lang="ja-JP" altLang="en-US">
                        <a:effectLst/>
                      </a:endParaRPr>
                    </a:p>
                  </a:txBody>
                  <a:tcPr marL="82550" marR="82550" marT="38100" marB="38100" anchor="ctr">
                    <a:lnL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378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 dirty="0">
                          <a:effectLst/>
                        </a:rPr>
                        <a:t>第１週</a:t>
                      </a:r>
                    </a:p>
                  </a:txBody>
                  <a:tcPr marL="82550" marR="82550" marT="38100" marB="38100" anchor="ctr">
                    <a:lnL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Python</a:t>
                      </a:r>
                      <a:r>
                        <a:rPr lang="ja-JP" altLang="en-US">
                          <a:effectLst/>
                        </a:rPr>
                        <a:t>入門（確率論向け）</a:t>
                      </a:r>
                    </a:p>
                  </a:txBody>
                  <a:tcPr marL="82550" marR="82550" marT="38100" marB="38100" anchor="ctr">
                    <a:lnL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789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 dirty="0">
                          <a:effectLst/>
                        </a:rPr>
                        <a:t>第２週</a:t>
                      </a:r>
                    </a:p>
                  </a:txBody>
                  <a:tcPr marL="82550" marR="82550" marT="38100" marB="38100" anchor="ctr">
                    <a:lnL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>
                          <a:effectLst/>
                        </a:rPr>
                        <a:t>確率変数と確率分布</a:t>
                      </a:r>
                    </a:p>
                  </a:txBody>
                  <a:tcPr marL="82550" marR="82550" marT="38100" marB="38100" anchor="ctr">
                    <a:lnL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468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 dirty="0">
                          <a:effectLst/>
                        </a:rPr>
                        <a:t>第３週</a:t>
                      </a:r>
                    </a:p>
                  </a:txBody>
                  <a:tcPr marL="82550" marR="82550" marT="38100" marB="38100" anchor="ctr">
                    <a:lnL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dirty="0">
                          <a:effectLst/>
                        </a:rPr>
                        <a:t>確率過程</a:t>
                      </a:r>
                    </a:p>
                  </a:txBody>
                  <a:tcPr marL="82550" marR="82550" marT="38100" marB="38100" anchor="ctr">
                    <a:lnL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179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 dirty="0">
                          <a:effectLst/>
                        </a:rPr>
                        <a:t>第４週</a:t>
                      </a:r>
                    </a:p>
                  </a:txBody>
                  <a:tcPr marL="82550" marR="82550" marT="38100" marB="38100" anchor="ctr">
                    <a:lnL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>
                          <a:effectLst/>
                        </a:rPr>
                        <a:t>相関性</a:t>
                      </a:r>
                    </a:p>
                  </a:txBody>
                  <a:tcPr marL="82550" marR="82550" marT="38100" marB="38100" anchor="ctr">
                    <a:lnL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28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 dirty="0">
                          <a:effectLst/>
                        </a:rPr>
                        <a:t>第５週</a:t>
                      </a:r>
                    </a:p>
                  </a:txBody>
                  <a:tcPr marL="82550" marR="82550" marT="38100" marB="38100" anchor="ctr">
                    <a:lnL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>
                          <a:effectLst/>
                        </a:rPr>
                        <a:t>定常性</a:t>
                      </a:r>
                    </a:p>
                  </a:txBody>
                  <a:tcPr marL="82550" marR="82550" marT="38100" marB="38100" anchor="ctr">
                    <a:lnL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082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 dirty="0">
                          <a:effectLst/>
                        </a:rPr>
                        <a:t>第６週</a:t>
                      </a:r>
                    </a:p>
                  </a:txBody>
                  <a:tcPr marL="82550" marR="82550" marT="38100" marB="38100" anchor="ctr">
                    <a:lnL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>
                          <a:effectLst/>
                        </a:rPr>
                        <a:t>分布と平均の理論計算</a:t>
                      </a:r>
                    </a:p>
                  </a:txBody>
                  <a:tcPr marL="82550" marR="82550" marT="38100" marB="38100" anchor="ctr">
                    <a:lnL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712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 dirty="0">
                          <a:effectLst/>
                        </a:rPr>
                        <a:t>第７週</a:t>
                      </a:r>
                    </a:p>
                  </a:txBody>
                  <a:tcPr marL="82550" marR="82550" marT="38100" marB="38100" anchor="ctr">
                    <a:lnL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dirty="0">
                          <a:effectLst/>
                        </a:rPr>
                        <a:t>確率過程の理論計算</a:t>
                      </a:r>
                    </a:p>
                  </a:txBody>
                  <a:tcPr marL="82550" marR="82550" marT="38100" marB="38100" anchor="ctr">
                    <a:lnL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7606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 dirty="0">
                          <a:effectLst/>
                        </a:rPr>
                        <a:t>第８週</a:t>
                      </a:r>
                    </a:p>
                  </a:txBody>
                  <a:tcPr marL="82550" marR="82550" marT="38100" marB="38100" anchor="ctr">
                    <a:lnL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dirty="0">
                          <a:effectLst/>
                        </a:rPr>
                        <a:t>レポート着手</a:t>
                      </a:r>
                    </a:p>
                  </a:txBody>
                  <a:tcPr marL="82550" marR="82550" marT="38100" marB="38100" anchor="ctr">
                    <a:lnL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807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846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0893982"/>
      </p:ext>
    </p:extLst>
  </p:cSld>
  <p:clrMapOvr>
    <a:masterClrMapping/>
  </p:clrMapOvr>
</p:sld>
</file>

<file path=ppt/theme/theme1.xml><?xml version="1.0" encoding="utf-8"?>
<a:theme xmlns:a="http://schemas.openxmlformats.org/drawingml/2006/main" name="宇都宮大学">
  <a:themeElements>
    <a:clrScheme name="アングル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Pixel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宇都宮大学</Template>
  <TotalTime>9703</TotalTime>
  <Words>469</Words>
  <Application>Microsoft Office PowerPoint</Application>
  <PresentationFormat>画面に合わせる (4:3)</PresentationFormat>
  <Paragraphs>107</Paragraphs>
  <Slides>19</Slides>
  <Notes>1</Notes>
  <HiddenSlides>0</HiddenSlides>
  <MMClips>4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19</vt:i4>
      </vt:variant>
    </vt:vector>
  </HeadingPairs>
  <TitlesOfParts>
    <vt:vector size="28" baseType="lpstr">
      <vt:lpstr>ＭＳ ゴシック</vt:lpstr>
      <vt:lpstr>Arial</vt:lpstr>
      <vt:lpstr>Arial Black</vt:lpstr>
      <vt:lpstr>Arial Narrow</vt:lpstr>
      <vt:lpstr>Calibri</vt:lpstr>
      <vt:lpstr>Cambria Math</vt:lpstr>
      <vt:lpstr>Times New Roman</vt:lpstr>
      <vt:lpstr>Wingdings</vt:lpstr>
      <vt:lpstr>宇都宮大学</vt:lpstr>
      <vt:lpstr>ガイダンス</vt:lpstr>
      <vt:lpstr>授業の背景（第１章） 「状態推定とノイズの小話」</vt:lpstr>
      <vt:lpstr>観測誤差のある制御系　1/3</vt:lpstr>
      <vt:lpstr>観測誤差のある制御系　2/3</vt:lpstr>
      <vt:lpstr>観測誤差のある制御系　3/3</vt:lpstr>
      <vt:lpstr>数値微分による速度推定 1/2</vt:lpstr>
      <vt:lpstr>数値微分による速度推定 2/2</vt:lpstr>
      <vt:lpstr>数値微分による速度推定 制御結果 1/2</vt:lpstr>
      <vt:lpstr>数値微分による速度推定 制御結果 2/2</vt:lpstr>
      <vt:lpstr>移動平均による瀘波　定義</vt:lpstr>
      <vt:lpstr>移動平均による瀘波　結果</vt:lpstr>
      <vt:lpstr>移動平均による瀘波 制御結果 1/2</vt:lpstr>
      <vt:lpstr>移動平均による瀘波 制御結果 2/2</vt:lpstr>
      <vt:lpstr>現代確率論による （驚くべき）結果</vt:lpstr>
      <vt:lpstr>Kalman-Bucy フィルタによる瀘波</vt:lpstr>
      <vt:lpstr>Kalman-Bucyによる瀘波　制御結果 1/2</vt:lpstr>
      <vt:lpstr>Kalman-Bucyによる瀘波　制御結果 2/2</vt:lpstr>
      <vt:lpstr>学習目標と履修方法</vt:lpstr>
      <vt:lpstr>スケジュール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対戦格闘の解明と ロボットへの応用</dc:title>
  <dc:creator>yoshidak</dc:creator>
  <cp:lastModifiedBy>吉田 勝俊</cp:lastModifiedBy>
  <cp:revision>923</cp:revision>
  <cp:lastPrinted>2014-08-01T01:12:53Z</cp:lastPrinted>
  <dcterms:created xsi:type="dcterms:W3CDTF">2012-10-22T22:12:18Z</dcterms:created>
  <dcterms:modified xsi:type="dcterms:W3CDTF">2026-06-16T01:01:36Z</dcterms:modified>
</cp:coreProperties>
</file>